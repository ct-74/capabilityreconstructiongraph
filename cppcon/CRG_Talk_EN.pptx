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look at the silicon of a modern CPU, the Level 1 cache is physically divided in two: the Data Cache (L1D) and the Instruction Cache (L1I). The hardware itself demands a strict separation between state and behavior to reach peak efficiency. Yet, for decades, we have forced them together in our objects. Stateless Behavior Projection is the answer. We stop fighting the hardware. We treat data and logic as two parallel dimensions — mirroring the silicon itself.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touch a header. One bool. You hit build. 38 minutes later, you're still waiting. That's Include Hell. It doesn't feel like a performance problem; it feels like a morale problem. But it's an architecture problem. Everything is entangled at compile time. CRG cuts that knot: how do you get behaviors to discover each other at link time, with zero shared headers?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production, you have modules registering capabilities without the core knowing they exist. CRG_BIND_SLOT anchors the registry in the core, allowing DLLs to resolve to a single address via the linker. Define a struct, instantiate it as a static, and the OS fires the constructor on load. It's a fully functional plugin system obtained for free.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initialization gives us free discovery, but walking a linked list for 100k entities is performance suicide. The Bake solves this: the first time Find() is called, the list is flattened into a dense, contiguous matrix. Lookup becomes a calculation, not a search. We trade dynamic flexibility for static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ModelShell is a logic-empty shell that carries data and preserves identity across boundaries. The only job is data transport. It uses Small Buffer Optimization (SBO) to ensure zero heap allocation and fits within a cache line. The data recovery via Get&lt;T&gt;() only happens inside the behavior that knows the type.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forbids virtual template methods — the 'Virtual Deadlock'. ModelShell breaks this by splitting the concerns: one virtual method (GetID()) for identity, and a non-virtual template method (Get&lt;T&gt;()) for data recovery. One virtual jump to identify, one static_cast to recover. The lock is broken.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Logic, and Binding are orthogonal dimensions that never include each other. The Gateway resolves them at runtime through the baked matrix. You can add a new capability by dropping a new .cpp file with a static binding. We compose systems at link time, not at compile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Invoke and TryInvoke provide an OOP illusion for the cold path. The method pointer is analyzed at compile time to extract the interface and validate the signature. It pays one virtual call to recover the type, then jumps into the tensor. Use it for queries, never in a hot loop.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registration doesn't scale. The Baker fixes this by expanding a TypeList of models across templatized capabilities. One static line generates N entries in the matrix. Group definitions by domain and let the matrix build itself.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Baker is elegant, but Find() is still O(N) over the number of registered models. For 100k entities, this is a bottleneck. We need pure math: compute an offset and jump. But hashes can't be array indices. We need to collapse the sparse ID universe.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ModelTypeIDs are arbitrary hashes scattered across a 4-billion slot space. You can't index an array with them. DenseTypeID collapses this sparse universe into consecutive integers (0, 1, 2...) assigned at startup. Now lookup is one array access.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DenseID is thread-safe (C++11 static local) and assigned exactly once per type. We build a flat tensor where rows are DenseIDs and columns are context offsets. No loop, no comparison, no hash collision. Finding a capability is now just a question of 'what is the offset?'.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behavior depends on context axes: State, Zone, Authority. Space encodes these at compile time. ComputeOffset uses Horner's method — one accumulation, no branches. Whether you have one dimension or ten, the lookup cost stays flat: two array accesses. Complexity is free.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mutable topology, behavior changes are structural operations that break the CPU prefetcher. In CRG, the matrix is frozen. A behavior transition is just a coordinate update. The memory addresses never change, so the prefetcher never loses its stream. Immutability is a performance guarantee.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ECS manages the data pipeline (Muscle); CRG manages logic projection (Brain). The Brain ticks at 5Hz, makes the decision via O(1) lookup, and caches it in ActiveCapability. The Muscle ticks at 60fps, iterating packed arrays and calling the pointer directly. We are bottlenecked by RAM, not logic.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levels of speed. Level 1: classic OOP vtable dispatch (~20ns). Level 2: CRG Shell Invoke, paying a virtual jump for type erasure (~7ns) — perfect for cold paths. Level 3: ActiveCapability, cached results called directly via function pointer (1.5ns). We've reached the physical hardware limit.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physical reality of the Memory Wall. At a 10% mutation rate, traditional ECS architectures drop to 19 Gi/s because the CPU is busy moving memory instead of executing logic. CRG sustains over 30 Gi/s because the topology is immutable. Note the QR code on the right: you can scan it now to access the live simulator and verify these performance metrics on your own device during the Q&amp;A.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visual stress test at 50,000 entities, you can see the ECS frame-time (in red) skyrocketing as soon as we introduce behavioral volatility. Every archetype change is a memory copy that destroys cache locality. The green line represents CRG: it remains a flat line because it treats transitions as coordinate updates, not structural rewires. Feel free to use the simulator link to adjust the mutation rate yourself.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CRG is a linker-driven dispatch framework for any C++ system needing decoupling and performance. Three guarantees: Zero coupling (modules self-register), Zero search (context is a coordinate), Zero migration (topology is immutable). Stop fighting C++ and the hardware. Give them what they were built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jp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00 - THE HOOK (Hardware-Software Symmetry)</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Hardware Reality: Physical Separation</a:t>
            </a:r>
          </a:p>
          <a:p>
            <a:pPr>
              <a:defRPr sz="1300">
                <a:solidFill>
                  <a:srgbClr val="DCDCDC"/>
                </a:solidFill>
                <a:latin typeface="Consolas"/>
              </a:defRPr>
            </a:pPr>
            <a:r>
              <a:t>// L1 Instruction Cache (L1I)  &lt;==&gt;  Stateless Behaviors</a:t>
            </a:r>
          </a:p>
          <a:p>
            <a:pPr>
              <a:defRPr sz="1300">
                <a:solidFill>
                  <a:srgbClr val="DCDCDC"/>
                </a:solidFill>
                <a:latin typeface="Consolas"/>
              </a:defRPr>
            </a:pPr>
            <a:r>
              <a:t>// L1 Data Cache (L1D)         &lt;==&gt;  Pure Data Models</a:t>
            </a:r>
          </a:p>
          <a:p>
            <a:pPr>
              <a:defRPr sz="1300">
                <a:solidFill>
                  <a:srgbClr val="DCDCDC"/>
                </a:solidFill>
                <a:latin typeface="Consolas"/>
              </a:defRPr>
            </a:pPr>
          </a:p>
          <a:p>
            <a:pPr>
              <a:defRPr sz="1300">
                <a:solidFill>
                  <a:srgbClr val="DCDCDC"/>
                </a:solidFill>
                <a:latin typeface="Consolas"/>
              </a:defRPr>
            </a:pPr>
            <a:r>
              <a:t>// The Software Conflict:</a:t>
            </a:r>
          </a:p>
          <a:p>
            <a:pPr>
              <a:defRPr sz="1300">
                <a:solidFill>
                  <a:srgbClr val="DCDCDC"/>
                </a:solidFill>
                <a:latin typeface="Consolas"/>
              </a:defRPr>
            </a:pPr>
            <a:r>
              <a:t>struct TraditionalObject {</a:t>
            </a:r>
          </a:p>
          <a:p>
            <a:pPr>
              <a:defRPr sz="1300">
                <a:solidFill>
                  <a:srgbClr val="DCDCDC"/>
                </a:solidFill>
                <a:latin typeface="Consolas"/>
              </a:defRPr>
            </a:pPr>
            <a:r>
              <a:t>    void Behavior(); // L1I</a:t>
            </a:r>
          </a:p>
          <a:p>
            <a:pPr>
              <a:defRPr sz="1300">
                <a:solidFill>
                  <a:srgbClr val="DCDCDC"/>
                </a:solidFill>
                <a:latin typeface="Consolas"/>
              </a:defRPr>
            </a:pPr>
            <a:r>
              <a:t>    float Data;      // L1D</a:t>
            </a:r>
          </a:p>
          <a:p>
            <a:pPr>
              <a:defRPr sz="1300">
                <a:solidFill>
                  <a:srgbClr val="DCDCDC"/>
                </a:solidFill>
                <a:latin typeface="Consolas"/>
              </a:defRPr>
            </a:pPr>
            <a:r>
              <a:t>}; // Forces coupling where hardware demands split.</a:t>
            </a:r>
          </a:p>
        </p:txBody>
      </p:sp>
      <p:pic>
        <p:nvPicPr>
          <p:cNvPr id="4" name="Picture 3" descr="image.jpg"/>
          <p:cNvPicPr>
            <a:picLocks noChangeAspect="1"/>
          </p:cNvPicPr>
          <p:nvPr/>
        </p:nvPicPr>
        <p:blipFill>
          <a:blip r:embed="rId2"/>
          <a:stretch>
            <a:fillRect/>
          </a:stretch>
        </p:blipFill>
        <p:spPr>
          <a:xfrm>
            <a:off x="6583680" y="1645920"/>
            <a:ext cx="5029200" cy="151123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01 - THE COST OF COUPLING (The Build Wall)</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You change this:</a:t>
            </a:r>
          </a:p>
          <a:p>
            <a:pPr>
              <a:defRPr sz="1300">
                <a:solidFill>
                  <a:srgbClr val="DCDCDC"/>
                </a:solidFill>
                <a:latin typeface="Consolas"/>
              </a:defRPr>
            </a:pPr>
            <a:r>
              <a:t>struct ConfigManager {</a:t>
            </a:r>
          </a:p>
          <a:p>
            <a:pPr>
              <a:defRPr sz="1300">
                <a:solidFill>
                  <a:srgbClr val="DCDCDC"/>
                </a:solidFill>
                <a:latin typeface="Consolas"/>
              </a:defRPr>
            </a:pPr>
            <a:r>
              <a:t>    bool b_EnableFeatureX = false; // ← one bool</a:t>
            </a:r>
          </a:p>
          <a:p>
            <a:pPr>
              <a:defRPr sz="1300">
                <a:solidFill>
                  <a:srgbClr val="DCDCDC"/>
                </a:solidFill>
                <a:latin typeface="Consolas"/>
              </a:defRPr>
            </a:pPr>
            <a:r>
              <a:t>};</a:t>
            </a:r>
          </a:p>
          <a:p>
            <a:pPr>
              <a:defRPr sz="1300">
                <a:solidFill>
                  <a:srgbClr val="DCDCDC"/>
                </a:solidFill>
                <a:latin typeface="Consolas"/>
              </a:defRPr>
            </a:pPr>
          </a:p>
          <a:p>
            <a:pPr>
              <a:defRPr sz="1300">
                <a:solidFill>
                  <a:srgbClr val="DCDCDC"/>
                </a:solidFill>
                <a:latin typeface="Consolas"/>
              </a:defRPr>
            </a:pPr>
            <a:r>
              <a:t>// The compiler punishes everyone:</a:t>
            </a:r>
          </a:p>
          <a:p>
            <a:pPr>
              <a:defRPr sz="1300">
                <a:solidFill>
                  <a:srgbClr val="DCDCDC"/>
                </a:solidFill>
                <a:latin typeface="Consolas"/>
              </a:defRPr>
            </a:pPr>
            <a:r>
              <a:t>// config_manager.h -&gt; service_layer.h -&gt; data_pipeline.h -&gt; ui_controller.h</a:t>
            </a:r>
          </a:p>
          <a:p>
            <a:pPr>
              <a:defRPr sz="1300">
                <a:solidFill>
                  <a:srgbClr val="DCDCDC"/>
                </a:solidFill>
                <a:latin typeface="Consolas"/>
              </a:defRPr>
            </a:pPr>
            <a:r>
              <a:t>// 217 files recompile. 38 minutes. Every programmer. Every day.</a:t>
            </a:r>
          </a:p>
        </p:txBody>
      </p:sp>
      <p:pic>
        <p:nvPicPr>
          <p:cNvPr id="4" name="Picture 3" descr="image.jpg"/>
          <p:cNvPicPr>
            <a:picLocks noChangeAspect="1"/>
          </p:cNvPicPr>
          <p:nvPr/>
        </p:nvPicPr>
        <p:blipFill>
          <a:blip r:embed="rId2"/>
          <a:stretch>
            <a:fillRect/>
          </a:stretch>
        </p:blipFill>
        <p:spPr>
          <a:xfrm>
            <a:off x="6583680" y="1645920"/>
            <a:ext cx="5029200" cy="12954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02 - THE INTRUSIVE BACKBONE (NodeList + RegistrySlot)</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RegistrySlot: Anchored definition in engine core</a:t>
            </a:r>
          </a:p>
          <a:p>
            <a:pPr>
              <a:defRPr sz="1300">
                <a:solidFill>
                  <a:srgbClr val="DCDCDC"/>
                </a:solidFill>
                <a:latin typeface="Consolas"/>
              </a:defRPr>
            </a:pPr>
            <a:r>
              <a:t>#define CRG_BIND_SLOT(T) template&lt;&gt; T RegistrySlot&lt;T&gt;::s_Value{};</a:t>
            </a:r>
          </a:p>
          <a:p>
            <a:pPr>
              <a:defRPr sz="1300">
                <a:solidFill>
                  <a:srgbClr val="DCDCDC"/>
                </a:solidFill>
                <a:latin typeface="Consolas"/>
              </a:defRPr>
            </a:pPr>
            <a:r>
              <a:t>CRG_BIND_SLOT(const BehaviorNode*)</a:t>
            </a:r>
          </a:p>
          <a:p>
            <a:pPr>
              <a:defRPr sz="1300">
                <a:solidFill>
                  <a:srgbClr val="DCDCDC"/>
                </a:solidFill>
                <a:latin typeface="Consolas"/>
              </a:defRPr>
            </a:pPr>
          </a:p>
          <a:p>
            <a:pPr>
              <a:defRPr sz="1300">
                <a:solidFill>
                  <a:srgbClr val="DCDCDC"/>
                </a:solidFill>
                <a:latin typeface="Consolas"/>
              </a:defRPr>
            </a:pPr>
            <a:r>
              <a:t>// MODULE A: Zero dependencies on core internals</a:t>
            </a:r>
          </a:p>
          <a:p>
            <a:pPr>
              <a:defRPr sz="1300">
                <a:solidFill>
                  <a:srgbClr val="DCDCDC"/>
                </a:solidFill>
                <a:latin typeface="Consolas"/>
              </a:defRPr>
            </a:pPr>
            <a:r>
              <a:t>struct DroneBehavior : NodeList&lt;BehaviorNode, IBehavior&gt; {</a:t>
            </a:r>
          </a:p>
          <a:p>
            <a:pPr>
              <a:defRPr sz="1300">
                <a:solidFill>
                  <a:srgbClr val="DCDCDC"/>
                </a:solidFill>
                <a:latin typeface="Consolas"/>
              </a:defRPr>
            </a:pPr>
            <a:r>
              <a:t>    void Execute() const override { /* ... */ }</a:t>
            </a:r>
          </a:p>
          <a:p>
            <a:pPr>
              <a:defRPr sz="1300">
                <a:solidFill>
                  <a:srgbClr val="DCDCDC"/>
                </a:solidFill>
                <a:latin typeface="Consolas"/>
              </a:defRPr>
            </a:pPr>
            <a:r>
              <a:t>};</a:t>
            </a:r>
          </a:p>
          <a:p>
            <a:pPr>
              <a:defRPr sz="1300">
                <a:solidFill>
                  <a:srgbClr val="DCDCDC"/>
                </a:solidFill>
                <a:latin typeface="Consolas"/>
              </a:defRPr>
            </a:pPr>
            <a:r>
              <a:t>static DroneBehavior g_drone; // OS loads DLL, constructor fires.</a:t>
            </a:r>
          </a:p>
        </p:txBody>
      </p:sp>
      <p:pic>
        <p:nvPicPr>
          <p:cNvPr id="4" name="Picture 3" descr="image.jpg"/>
          <p:cNvPicPr>
            <a:picLocks noChangeAspect="1"/>
          </p:cNvPicPr>
          <p:nvPr/>
        </p:nvPicPr>
        <p:blipFill>
          <a:blip r:embed="rId2"/>
          <a:stretch>
            <a:fillRect/>
          </a:stretch>
        </p:blipFill>
        <p:spPr>
          <a:xfrm>
            <a:off x="6583680" y="1645920"/>
            <a:ext cx="5029200" cy="299740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03 - THE BAKING (Taking Back Control)</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DISCOVERY: Linked list traversal (Cache Miss)</a:t>
            </a:r>
          </a:p>
          <a:p>
            <a:pPr>
              <a:defRPr sz="1300">
                <a:solidFill>
                  <a:srgbClr val="DCDCDC"/>
                </a:solidFill>
                <a:latin typeface="Consolas"/>
              </a:defRPr>
            </a:pPr>
            <a:r>
              <a:t>for (auto* n = Anchor::s_Value; n; n = n-&gt;m_Next) {</a:t>
            </a:r>
          </a:p>
          <a:p>
            <a:pPr>
              <a:defRPr sz="1300">
                <a:solidFill>
                  <a:srgbClr val="DCDCDC"/>
                </a:solidFill>
                <a:latin typeface="Consolas"/>
              </a:defRPr>
            </a:pPr>
            <a:r>
              <a:t>    if (n-&gt;GetID() == modelID) return n; </a:t>
            </a:r>
          </a:p>
          <a:p>
            <a:pPr>
              <a:defRPr sz="1300">
                <a:solidFill>
                  <a:srgbClr val="DCDCDC"/>
                </a:solidFill>
                <a:latin typeface="Consolas"/>
              </a:defRPr>
            </a:pPr>
            <a:r>
              <a:t>}</a:t>
            </a:r>
          </a:p>
          <a:p>
            <a:pPr>
              <a:defRPr sz="1300">
                <a:solidFill>
                  <a:srgbClr val="DCDCDC"/>
                </a:solidFill>
                <a:latin typeface="Consolas"/>
              </a:defRPr>
            </a:pPr>
          </a:p>
          <a:p>
            <a:pPr>
              <a:defRPr sz="1300">
                <a:solidFill>
                  <a:srgbClr val="DCDCDC"/>
                </a:solidFill>
                <a:latin typeface="Consolas"/>
              </a:defRPr>
            </a:pPr>
            <a:r>
              <a:t>// BAKED: StaticGuard triggers once automatically.</a:t>
            </a:r>
          </a:p>
          <a:p>
            <a:pPr>
              <a:defRPr sz="1300">
                <a:solidFill>
                  <a:srgbClr val="DCDCDC"/>
                </a:solidFill>
                <a:latin typeface="Consolas"/>
              </a:defRPr>
            </a:pPr>
            <a:r>
              <a:t>// Flattened into a contiguous matrix.</a:t>
            </a:r>
          </a:p>
          <a:p>
            <a:pPr>
              <a:defRPr sz="1300">
                <a:solidFill>
                  <a:srgbClr val="DCDCDC"/>
                </a:solidFill>
                <a:latin typeface="Consolas"/>
              </a:defRPr>
            </a:pPr>
            <a:r>
              <a:t>return s_CapabilityTensor[denseModelID][contextOffset]; // O(1)</a:t>
            </a:r>
          </a:p>
        </p:txBody>
      </p:sp>
      <p:pic>
        <p:nvPicPr>
          <p:cNvPr id="4" name="Picture 3" descr="image.jpg"/>
          <p:cNvPicPr>
            <a:picLocks noChangeAspect="1"/>
          </p:cNvPicPr>
          <p:nvPr/>
        </p:nvPicPr>
        <p:blipFill>
          <a:blip r:embed="rId2"/>
          <a:stretch>
            <a:fillRect/>
          </a:stretch>
        </p:blipFill>
        <p:spPr>
          <a:xfrm>
            <a:off x="6583680" y="1645920"/>
            <a:ext cx="5029200" cy="84321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04 - THE OPAQUE TRANSPORT (ModelShell)</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class ModelShell {</a:t>
            </a:r>
          </a:p>
          <a:p>
            <a:pPr>
              <a:defRPr sz="1300">
                <a:solidFill>
                  <a:srgbClr val="DCDCDC"/>
                </a:solidFill>
                <a:latin typeface="Consolas"/>
              </a:defRPr>
            </a:pPr>
            <a:r>
              <a:t>    struct Concept { virtual ModelTypeID GetID() const = 0; };</a:t>
            </a:r>
          </a:p>
          <a:p>
            <a:pPr>
              <a:defRPr sz="1300">
                <a:solidFill>
                  <a:srgbClr val="DCDCDC"/>
                </a:solidFill>
                <a:latin typeface="Consolas"/>
              </a:defRPr>
            </a:pPr>
            <a:r>
              <a:t>    template&lt;class T&gt; struct Model : Concept { T value; };</a:t>
            </a:r>
          </a:p>
          <a:p>
            <a:pPr>
              <a:defRPr sz="1300">
                <a:solidFill>
                  <a:srgbClr val="DCDCDC"/>
                </a:solidFill>
                <a:latin typeface="Consolas"/>
              </a:defRPr>
            </a:pPr>
            <a:r>
              <a:t>    alignas(64) std::byte m_SBO[64]; // SBO, Zero heap</a:t>
            </a:r>
          </a:p>
          <a:p>
            <a:pPr>
              <a:defRPr sz="1300">
                <a:solidFill>
                  <a:srgbClr val="DCDCDC"/>
                </a:solidFill>
                <a:latin typeface="Consolas"/>
              </a:defRPr>
            </a:pPr>
            <a:r>
              <a:t>public:</a:t>
            </a:r>
          </a:p>
          <a:p>
            <a:pPr>
              <a:defRPr sz="1300">
                <a:solidFill>
                  <a:srgbClr val="DCDCDC"/>
                </a:solidFill>
                <a:latin typeface="Consolas"/>
              </a:defRPr>
            </a:pPr>
            <a:r>
              <a:t>    template&lt;class T&gt; const T&amp; Get() const {</a:t>
            </a:r>
          </a:p>
          <a:p>
            <a:pPr>
              <a:defRPr sz="1300">
                <a:solidFill>
                  <a:srgbClr val="DCDCDC"/>
                </a:solidFill>
                <a:latin typeface="Consolas"/>
              </a:defRPr>
            </a:pPr>
            <a:r>
              <a:t>        return static_cast&lt;const Model&lt;T&gt;*&gt;(m_ptr)-&gt;value;</a:t>
            </a:r>
          </a:p>
          <a:p>
            <a:pPr>
              <a:defRPr sz="1300">
                <a:solidFill>
                  <a:srgbClr val="DCDCDC"/>
                </a:solidFill>
                <a:latin typeface="Consolas"/>
              </a:defRPr>
            </a:pPr>
            <a:r>
              <a:t>    }</a:t>
            </a:r>
          </a:p>
          <a:p>
            <a:pPr>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89361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05 - THE VIRTUAL DEADLOCK (Breaking the Lock)</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THE PROBLEM: Virtual + Template = Illegal</a:t>
            </a:r>
          </a:p>
          <a:p>
            <a:pPr>
              <a:defRPr sz="1300">
                <a:solidFill>
                  <a:srgbClr val="DCDCDC"/>
                </a:solidFill>
                <a:latin typeface="Consolas"/>
              </a:defRPr>
            </a:pPr>
            <a:r>
              <a:t>struct IShape {</a:t>
            </a:r>
          </a:p>
          <a:p>
            <a:pPr>
              <a:defRPr sz="1300">
                <a:solidFill>
                  <a:srgbClr val="DCDCDC"/>
                </a:solidFill>
                <a:latin typeface="Consolas"/>
              </a:defRPr>
            </a:pPr>
            <a:r>
              <a:t>    template&lt;class T&gt; virtual T Get() = 0; // compiler error</a:t>
            </a:r>
          </a:p>
          <a:p>
            <a:pPr>
              <a:defRPr sz="1300">
                <a:solidFill>
                  <a:srgbClr val="DCDCDC"/>
                </a:solidFill>
                <a:latin typeface="Consolas"/>
              </a:defRPr>
            </a:pPr>
            <a:r>
              <a:t>};</a:t>
            </a:r>
          </a:p>
          <a:p>
            <a:pPr>
              <a:defRPr sz="1300">
                <a:solidFill>
                  <a:srgbClr val="DCDCDC"/>
                </a:solidFill>
                <a:latin typeface="Consolas"/>
              </a:defRPr>
            </a:pPr>
          </a:p>
          <a:p>
            <a:pPr>
              <a:defRPr sz="1300">
                <a:solidFill>
                  <a:srgbClr val="DCDCDC"/>
                </a:solidFill>
                <a:latin typeface="Consolas"/>
              </a:defRPr>
            </a:pPr>
            <a:r>
              <a:t>// THE BREAK: Split concerns</a:t>
            </a:r>
          </a:p>
          <a:p>
            <a:pPr>
              <a:defRPr sz="1300">
                <a:solidFill>
                  <a:srgbClr val="DCDCDC"/>
                </a:solidFill>
                <a:latin typeface="Consolas"/>
              </a:defRPr>
            </a:pPr>
            <a:r>
              <a:t>struct Concept {</a:t>
            </a:r>
          </a:p>
          <a:p>
            <a:pPr>
              <a:defRPr sz="1300">
                <a:solidFill>
                  <a:srgbClr val="DCDCDC"/>
                </a:solidFill>
                <a:latin typeface="Consolas"/>
              </a:defRPr>
            </a:pPr>
            <a:r>
              <a:t>    virtual ModelTypeID GetID() const = 0; // Identity</a:t>
            </a:r>
          </a:p>
          <a:p>
            <a:pPr>
              <a:defRPr sz="1300">
                <a:solidFill>
                  <a:srgbClr val="DCDCDC"/>
                </a:solidFill>
                <a:latin typeface="Consolas"/>
              </a:defRPr>
            </a:pPr>
            <a:r>
              <a:t>};</a:t>
            </a:r>
          </a:p>
          <a:p>
            <a:pPr>
              <a:defRPr sz="1300">
                <a:solidFill>
                  <a:srgbClr val="DCDCDC"/>
                </a:solidFill>
                <a:latin typeface="Consolas"/>
              </a:defRPr>
            </a:pPr>
            <a:r>
              <a:t>template&lt;class T&gt;</a:t>
            </a:r>
          </a:p>
          <a:p>
            <a:pPr>
              <a:defRPr sz="1300">
                <a:solidFill>
                  <a:srgbClr val="DCDCDC"/>
                </a:solidFill>
                <a:latin typeface="Consolas"/>
              </a:defRPr>
            </a:pPr>
            <a:r>
              <a:t>const T&amp; Get() const { ... } // Template Data Recovery</a:t>
            </a:r>
          </a:p>
        </p:txBody>
      </p:sp>
      <p:pic>
        <p:nvPicPr>
          <p:cNvPr id="4" name="Picture 3" descr="image.jpg"/>
          <p:cNvPicPr>
            <a:picLocks noChangeAspect="1"/>
          </p:cNvPicPr>
          <p:nvPr/>
        </p:nvPicPr>
        <p:blipFill>
          <a:blip r:embed="rId2"/>
          <a:stretch>
            <a:fillRect/>
          </a:stretch>
        </p:blipFill>
        <p:spPr>
          <a:xfrm>
            <a:off x="6583680" y="1645920"/>
            <a:ext cx="5029200" cy="110253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06 - IDENTITY DECOUPLING (The Capability Binding)</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DATA: scout.h (Pure state)</a:t>
            </a:r>
          </a:p>
          <a:p>
            <a:pPr>
              <a:defRPr sz="1300">
                <a:solidFill>
                  <a:srgbClr val="DCDCDC"/>
                </a:solidFill>
                <a:latin typeface="Consolas"/>
              </a:defRPr>
            </a:pPr>
            <a:r>
              <a:t>struct Scout { string callsign; int health; };</a:t>
            </a:r>
          </a:p>
          <a:p>
            <a:pPr>
              <a:defRPr sz="1300">
                <a:solidFill>
                  <a:srgbClr val="DCDCDC"/>
                </a:solidFill>
                <a:latin typeface="Consolas"/>
              </a:defRPr>
            </a:pPr>
          </a:p>
          <a:p>
            <a:pPr>
              <a:defRPr sz="1300">
                <a:solidFill>
                  <a:srgbClr val="DCDCDC"/>
                </a:solidFill>
                <a:latin typeface="Consolas"/>
              </a:defRPr>
            </a:pPr>
            <a:r>
              <a:t>// LOGIC: diag.cpp (Pure logic)</a:t>
            </a:r>
          </a:p>
          <a:p>
            <a:pPr>
              <a:defRPr sz="1300">
                <a:solidFill>
                  <a:srgbClr val="DCDCDC"/>
                </a:solidFill>
                <a:latin typeface="Consolas"/>
              </a:defRPr>
            </a:pPr>
            <a:r>
              <a:t>struct Diagnostic : IDiagnostic {</a:t>
            </a:r>
          </a:p>
          <a:p>
            <a:pPr>
              <a:defRPr sz="1300">
                <a:solidFill>
                  <a:srgbClr val="DCDCDC"/>
                </a:solidFill>
                <a:latin typeface="Consolas"/>
              </a:defRPr>
            </a:pPr>
            <a:r>
              <a:t>    void Execute(const ModelShell&amp; shell) const { ... }</a:t>
            </a:r>
          </a:p>
          <a:p>
            <a:pPr>
              <a:defRPr sz="1300">
                <a:solidFill>
                  <a:srgbClr val="DCDCDC"/>
                </a:solidFill>
                <a:latin typeface="Consolas"/>
              </a:defRPr>
            </a:pPr>
            <a:r>
              <a:t>};</a:t>
            </a:r>
          </a:p>
          <a:p>
            <a:pPr>
              <a:defRPr sz="1300">
                <a:solidFill>
                  <a:srgbClr val="DCDCDC"/>
                </a:solidFill>
                <a:latin typeface="Consolas"/>
              </a:defRPr>
            </a:pPr>
          </a:p>
          <a:p>
            <a:pPr>
              <a:defRPr sz="1300">
                <a:solidFill>
                  <a:srgbClr val="DCDCDC"/>
                </a:solidFill>
                <a:latin typeface="Consolas"/>
              </a:defRPr>
            </a:pPr>
            <a:r>
              <a:t>// BINDING: wire.cpp (The wire)</a:t>
            </a:r>
          </a:p>
          <a:p>
            <a:pPr>
              <a:defRPr sz="1300">
                <a:solidFill>
                  <a:srgbClr val="DCDCDC"/>
                </a:solidFill>
                <a:latin typeface="Consolas"/>
              </a:defRPr>
            </a:pPr>
            <a:r>
              <a:t>static const CapabilityBinding&lt;Scout, Diagnostic&gt; g_ScoutDiag;</a:t>
            </a:r>
          </a:p>
        </p:txBody>
      </p:sp>
      <p:pic>
        <p:nvPicPr>
          <p:cNvPr id="4" name="Picture 3" descr="image.jpg"/>
          <p:cNvPicPr>
            <a:picLocks noChangeAspect="1"/>
          </p:cNvPicPr>
          <p:nvPr/>
        </p:nvPicPr>
        <p:blipFill>
          <a:blip r:embed="rId2"/>
          <a:stretch>
            <a:fillRect/>
          </a:stretch>
        </p:blipFill>
        <p:spPr>
          <a:xfrm>
            <a:off x="6583680" y="1645920"/>
            <a:ext cx="5029200" cy="141598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07 - THE OOP ILLUSION (Invoke / TryInvoke)</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Cold Path: Clean OOP syntax</a:t>
            </a:r>
          </a:p>
          <a:p>
            <a:pPr>
              <a:defRPr sz="1300">
                <a:solidFill>
                  <a:srgbClr val="DCDCDC"/>
                </a:solidFill>
                <a:latin typeface="Consolas"/>
              </a:defRPr>
            </a:pPr>
            <a:r>
              <a:t>shell.Invoke&lt;&amp;IMovement::Move&gt;(ctx);</a:t>
            </a:r>
          </a:p>
          <a:p>
            <a:pPr>
              <a:defRPr sz="1300">
                <a:solidFill>
                  <a:srgbClr val="DCDCDC"/>
                </a:solidFill>
                <a:latin typeface="Consolas"/>
              </a:defRPr>
            </a:pPr>
          </a:p>
          <a:p>
            <a:pPr>
              <a:defRPr sz="1300">
                <a:solidFill>
                  <a:srgbClr val="DCDCDC"/>
                </a:solidFill>
                <a:latin typeface="Consolas"/>
              </a:defRPr>
            </a:pPr>
            <a:r>
              <a:t>// Analyzed at compile-time:</a:t>
            </a:r>
          </a:p>
          <a:p>
            <a:pPr>
              <a:defRPr sz="1300">
                <a:solidFill>
                  <a:srgbClr val="DCDCDC"/>
                </a:solidFill>
                <a:latin typeface="Consolas"/>
              </a:defRPr>
            </a:pPr>
            <a:r>
              <a:t>// 1. Extracts Interface (IMovement)</a:t>
            </a:r>
          </a:p>
          <a:p>
            <a:pPr>
              <a:defRPr sz="1300">
                <a:solidFill>
                  <a:srgbClr val="DCDCDC"/>
                </a:solidFill>
                <a:latin typeface="Consolas"/>
              </a:defRPr>
            </a:pPr>
            <a:r>
              <a:t>// 2. Validates signature</a:t>
            </a:r>
          </a:p>
          <a:p>
            <a:pPr>
              <a:defRPr sz="1300">
                <a:solidFill>
                  <a:srgbClr val="DCDCDC"/>
                </a:solidFill>
                <a:latin typeface="Consolas"/>
              </a:defRPr>
            </a:pPr>
            <a:r>
              <a:t>// 3. One virtual jump + O(1) tensor</a:t>
            </a:r>
          </a:p>
          <a:p>
            <a:pPr>
              <a:defRPr sz="1300">
                <a:solidFill>
                  <a:srgbClr val="DCDCDC"/>
                </a:solidFill>
                <a:latin typeface="Consolas"/>
              </a:defRPr>
            </a:pPr>
            <a:r>
              <a:t>// 4. Direct call</a:t>
            </a:r>
          </a:p>
        </p:txBody>
      </p:sp>
      <p:pic>
        <p:nvPicPr>
          <p:cNvPr id="4" name="Picture 3" descr="image.jpg"/>
          <p:cNvPicPr>
            <a:picLocks noChangeAspect="1"/>
          </p:cNvPicPr>
          <p:nvPr/>
        </p:nvPicPr>
        <p:blipFill>
          <a:blip r:embed="rId2"/>
          <a:stretch>
            <a:fillRect/>
          </a:stretch>
        </p:blipFill>
        <p:spPr>
          <a:xfrm>
            <a:off x="6583680" y="1645920"/>
            <a:ext cx="5029200" cy="206493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08 - THE BAKER (One Line, N Models)</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using AirModels = TypeList&lt;Scout, Drone, Heavy&gt;;</a:t>
            </a:r>
          </a:p>
          <a:p>
            <a:pPr>
              <a:defRPr sz="1300">
                <a:solidFill>
                  <a:srgbClr val="DCDCDC"/>
                </a:solidFill>
                <a:latin typeface="Consolas"/>
              </a:defRPr>
            </a:pPr>
          </a:p>
          <a:p>
            <a:pPr>
              <a:defRPr sz="1300">
                <a:solidFill>
                  <a:srgbClr val="DCDCDC"/>
                </a:solidFill>
                <a:latin typeface="Consolas"/>
              </a:defRPr>
            </a:pPr>
            <a:r>
              <a:t>// One line. All models. All capabilities.</a:t>
            </a:r>
          </a:p>
          <a:p>
            <a:pPr>
              <a:defRPr sz="1300">
                <a:solidFill>
                  <a:srgbClr val="DCDCDC"/>
                </a:solidFill>
                <a:latin typeface="Consolas"/>
              </a:defRPr>
            </a:pPr>
            <a:r>
              <a:t>static const CapabilityBaker&lt;AirModels, Diag, Tele&gt; g_AirBaker;</a:t>
            </a:r>
          </a:p>
        </p:txBody>
      </p:sp>
      <p:pic>
        <p:nvPicPr>
          <p:cNvPr id="4" name="Picture 3" descr="image.jpg"/>
          <p:cNvPicPr>
            <a:picLocks noChangeAspect="1"/>
          </p:cNvPicPr>
          <p:nvPr/>
        </p:nvPicPr>
        <p:blipFill>
          <a:blip r:embed="rId2"/>
          <a:stretch>
            <a:fillRect/>
          </a:stretch>
        </p:blipFill>
        <p:spPr>
          <a:xfrm>
            <a:off x="6583680" y="1645920"/>
            <a:ext cx="5029200" cy="245283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09 - THE PRICE OF FREEDOM (O(N) Search)</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Current Find() bottleneck:</a:t>
            </a:r>
          </a:p>
          <a:p>
            <a:pPr>
              <a:defRPr sz="1300">
                <a:solidFill>
                  <a:srgbClr val="DCDCDC"/>
                </a:solidFill>
                <a:latin typeface="Consolas"/>
              </a:defRPr>
            </a:pPr>
            <a:r>
              <a:t>for (const auto* node : RouterSlot::s_Value) {</a:t>
            </a:r>
          </a:p>
          <a:p>
            <a:pPr>
              <a:defRPr sz="1300">
                <a:solidFill>
                  <a:srgbClr val="DCDCDC"/>
                </a:solidFill>
                <a:latin typeface="Consolas"/>
              </a:defRPr>
            </a:pPr>
            <a:r>
              <a:t>    if (node-&gt;GetID() == modelID) // comparison</a:t>
            </a:r>
          </a:p>
          <a:p>
            <a:pPr>
              <a:defRPr sz="1300">
                <a:solidFill>
                  <a:srgbClr val="DCDCDC"/>
                </a:solidFill>
                <a:latin typeface="Consolas"/>
              </a:defRPr>
            </a:pPr>
            <a:r>
              <a:t>        return node-&gt;Resolve(iid);</a:t>
            </a:r>
          </a:p>
          <a:p>
            <a:pPr>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66549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10 - THE ID EXPLOSION (The Sparse Universe)</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typeid().hash_code() is sparse (0 to 4B)</a:t>
            </a:r>
          </a:p>
          <a:p>
            <a:pPr>
              <a:defRPr sz="1300">
                <a:solidFill>
                  <a:srgbClr val="DCDCDC"/>
                </a:solidFill>
                <a:latin typeface="Consolas"/>
              </a:defRPr>
            </a:pPr>
            <a:r>
              <a:t>// Scout -&gt; 0x4A1F...</a:t>
            </a:r>
          </a:p>
          <a:p>
            <a:pPr>
              <a:defRPr sz="1300">
                <a:solidFill>
                  <a:srgbClr val="DCDCDC"/>
                </a:solidFill>
                <a:latin typeface="Consolas"/>
              </a:defRPr>
            </a:pPr>
            <a:r>
              <a:t>// Drone -&gt; 0x9B3D...</a:t>
            </a:r>
          </a:p>
          <a:p>
            <a:pPr>
              <a:defRPr sz="1300">
                <a:solidFill>
                  <a:srgbClr val="DCDCDC"/>
                </a:solidFill>
                <a:latin typeface="Consolas"/>
              </a:defRPr>
            </a:pPr>
          </a:p>
          <a:p>
            <a:pPr>
              <a:defRPr sz="1300">
                <a:solidFill>
                  <a:srgbClr val="DCDCDC"/>
                </a:solidFill>
                <a:latin typeface="Consolas"/>
              </a:defRPr>
            </a:pPr>
            <a:r>
              <a:t>// THE COLLAPSE: DenseTypeID</a:t>
            </a:r>
          </a:p>
          <a:p>
            <a:pPr>
              <a:defRPr sz="1300">
                <a:solidFill>
                  <a:srgbClr val="DCDCDC"/>
                </a:solidFill>
                <a:latin typeface="Consolas"/>
              </a:defRPr>
            </a:pPr>
            <a:r>
              <a:t>template&lt;class T&gt;</a:t>
            </a:r>
          </a:p>
          <a:p>
            <a:pPr>
              <a:defRPr sz="1300">
                <a:solidFill>
                  <a:srgbClr val="DCDCDC"/>
                </a:solidFill>
                <a:latin typeface="Consolas"/>
              </a:defRPr>
            </a:pPr>
            <a:r>
              <a:t>struct DenseTypeID {</a:t>
            </a:r>
          </a:p>
          <a:p>
            <a:pPr>
              <a:defRPr sz="1300">
                <a:solidFill>
                  <a:srgbClr val="DCDCDC"/>
                </a:solidFill>
                <a:latin typeface="Consolas"/>
              </a:defRPr>
            </a:pPr>
            <a:r>
              <a:t>    static DenseID Get() {</a:t>
            </a:r>
          </a:p>
          <a:p>
            <a:pPr>
              <a:defRPr sz="1300">
                <a:solidFill>
                  <a:srgbClr val="DCDCDC"/>
                </a:solidFill>
                <a:latin typeface="Consolas"/>
              </a:defRPr>
            </a:pPr>
            <a:r>
              <a:t>        static DenseID s_id = Counter++; // 0, 1, 2...</a:t>
            </a:r>
          </a:p>
          <a:p>
            <a:pPr>
              <a:defRPr sz="1300">
                <a:solidFill>
                  <a:srgbClr val="DCDCDC"/>
                </a:solidFill>
                <a:latin typeface="Consolas"/>
              </a:defRPr>
            </a:pPr>
            <a:r>
              <a:t>        return s_id;</a:t>
            </a:r>
          </a:p>
          <a:p>
            <a:pPr>
              <a:defRPr sz="1300">
                <a:solidFill>
                  <a:srgbClr val="DCDCDC"/>
                </a:solidFill>
                <a:latin typeface="Consolas"/>
              </a:defRPr>
            </a:pPr>
            <a:r>
              <a:t>    }</a:t>
            </a:r>
          </a:p>
          <a:p>
            <a:pPr>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421941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11 - THE DENSE INDEXER (Collapse in Action)</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THE FLAT TENSOR: Rows = DenseID, Columns = Offset</a:t>
            </a:r>
          </a:p>
          <a:p>
            <a:pPr>
              <a:defRPr sz="1300">
                <a:solidFill>
                  <a:srgbClr val="DCDCDC"/>
                </a:solidFill>
                <a:latin typeface="Consolas"/>
              </a:defRPr>
            </a:pPr>
            <a:r>
              <a:t>static vector&lt;vector&lt;RouteNode*&gt;&gt; s_Tensor;</a:t>
            </a:r>
          </a:p>
          <a:p>
            <a:pPr>
              <a:defRPr sz="1300">
                <a:solidFill>
                  <a:srgbClr val="DCDCDC"/>
                </a:solidFill>
                <a:latin typeface="Consolas"/>
              </a:defRPr>
            </a:pPr>
          </a:p>
          <a:p>
            <a:pPr>
              <a:defRPr sz="1300">
                <a:solidFill>
                  <a:srgbClr val="DCDCDC"/>
                </a:solidFill>
                <a:latin typeface="Consolas"/>
              </a:defRPr>
            </a:pPr>
            <a:r>
              <a:t>// Lookup: two array accesses</a:t>
            </a:r>
          </a:p>
          <a:p>
            <a:pPr>
              <a:defRPr sz="1300">
                <a:solidFill>
                  <a:srgbClr val="DCDCDC"/>
                </a:solidFill>
                <a:latin typeface="Consolas"/>
              </a:defRPr>
            </a:pPr>
            <a:r>
              <a:t>return s_Tensor[denseID][offset];</a:t>
            </a:r>
          </a:p>
        </p:txBody>
      </p:sp>
      <p:pic>
        <p:nvPicPr>
          <p:cNvPr id="4" name="Picture 3" descr="image.jpg"/>
          <p:cNvPicPr>
            <a:picLocks noChangeAspect="1"/>
          </p:cNvPicPr>
          <p:nvPr/>
        </p:nvPicPr>
        <p:blipFill>
          <a:blip r:embed="rId2"/>
          <a:stretch>
            <a:fillRect/>
          </a:stretch>
        </p:blipFill>
        <p:spPr>
          <a:xfrm>
            <a:off x="6583680" y="1645920"/>
            <a:ext cx="5029200" cy="177071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12 - THE HYPERCUBE (N-Dimensional Space)</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Horner's Method: Resolve N-dims into 1 offset</a:t>
            </a:r>
          </a:p>
          <a:p>
            <a:pPr>
              <a:defRPr sz="1300">
                <a:solidFill>
                  <a:srgbClr val="DCDCDC"/>
                </a:solidFill>
                <a:latin typeface="Consolas"/>
              </a:defRPr>
            </a:pPr>
            <a:r>
              <a:t>// offset = (State * Zone_count) + Zone</a:t>
            </a:r>
          </a:p>
          <a:p>
            <a:pPr>
              <a:defRPr sz="1300">
                <a:solidFill>
                  <a:srgbClr val="DCDCDC"/>
                </a:solidFill>
                <a:latin typeface="Consolas"/>
              </a:defRPr>
            </a:pPr>
            <a:r>
              <a:t>template&lt;class... TAxes&gt;</a:t>
            </a:r>
          </a:p>
          <a:p>
            <a:pPr>
              <a:defRPr sz="1300">
                <a:solidFill>
                  <a:srgbClr val="DCDCDC"/>
                </a:solidFill>
                <a:latin typeface="Consolas"/>
              </a:defRPr>
            </a:pPr>
            <a:r>
              <a:t>struct Space {</a:t>
            </a:r>
          </a:p>
          <a:p>
            <a:pPr>
              <a:defRPr sz="1300">
                <a:solidFill>
                  <a:srgbClr val="DCDCDC"/>
                </a:solidFill>
                <a:latin typeface="Consolas"/>
              </a:defRPr>
            </a:pPr>
            <a:r>
              <a:t>    static constexpr size_t Volume = (EnumTraits&lt;TAxes&gt;::Count * ...);</a:t>
            </a:r>
          </a:p>
          <a:p>
            <a:pPr>
              <a:defRPr sz="1300">
                <a:solidFill>
                  <a:srgbClr val="DCDCDC"/>
                </a:solidFill>
                <a:latin typeface="Consolas"/>
              </a:defRPr>
            </a:pPr>
            <a:r>
              <a:t>    static size_t ComputeOffset(Args... args) { ... }</a:t>
            </a:r>
          </a:p>
          <a:p>
            <a:pPr>
              <a:defRPr sz="1300">
                <a:solidFill>
                  <a:srgbClr val="DCDCDC"/>
                </a:solidFill>
                <a:latin typeface="Consolas"/>
              </a:defRPr>
            </a:pP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13 - THE CRG CURE (Immutable Topology)</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MUTABLE: Behavior change = structural rewire</a:t>
            </a:r>
          </a:p>
          <a:p>
            <a:pPr>
              <a:defRPr sz="1300">
                <a:solidFill>
                  <a:srgbClr val="DCDCDC"/>
                </a:solidFill>
                <a:latin typeface="Consolas"/>
              </a:defRPr>
            </a:pPr>
            <a:r>
              <a:t>behaviors.remove(entity, patrol); // prefetcher loses stream</a:t>
            </a:r>
          </a:p>
          <a:p>
            <a:pPr>
              <a:defRPr sz="1300">
                <a:solidFill>
                  <a:srgbClr val="DCDCDC"/>
                </a:solidFill>
                <a:latin typeface="Consolas"/>
              </a:defRPr>
            </a:pPr>
          </a:p>
          <a:p>
            <a:pPr>
              <a:defRPr sz="1300">
                <a:solidFill>
                  <a:srgbClr val="DCDCDC"/>
                </a:solidFill>
                <a:latin typeface="Consolas"/>
              </a:defRPr>
            </a:pPr>
            <a:r>
              <a:t>// CRG: Behavior change = coordinate update</a:t>
            </a:r>
          </a:p>
          <a:p>
            <a:pPr>
              <a:defRPr sz="1300">
                <a:solidFill>
                  <a:srgbClr val="DCDCDC"/>
                </a:solidFill>
                <a:latin typeface="Consolas"/>
              </a:defRPr>
            </a:pPr>
            <a:r>
              <a:t>world_state = State::Combat; // matrix: unchanged.</a:t>
            </a:r>
          </a:p>
        </p:txBody>
      </p:sp>
      <p:pic>
        <p:nvPicPr>
          <p:cNvPr id="4" name="Picture 3" descr="image.jpg"/>
          <p:cNvPicPr>
            <a:picLocks noChangeAspect="1"/>
          </p:cNvPicPr>
          <p:nvPr/>
        </p:nvPicPr>
        <p:blipFill>
          <a:blip r:embed="rId2"/>
          <a:stretch>
            <a:fillRect/>
          </a:stretch>
        </p:blipFill>
        <p:spPr>
          <a:xfrm>
            <a:off x="6583680" y="1645920"/>
            <a:ext cx="5029200" cy="1287965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14 - ECS SYMBIOSIS (The Brain &amp; The Muscle)</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THE BRAIN (5 Hz): Decision</a:t>
            </a:r>
          </a:p>
          <a:p>
            <a:pPr>
              <a:defRPr sz="1300">
                <a:solidFill>
                  <a:srgbClr val="DCDCDC"/>
                </a:solidFill>
                <a:latin typeface="Consolas"/>
              </a:defRPr>
            </a:pPr>
            <a:r>
              <a:t>cap = Router::Find&lt;Energy&gt;(handle, state, zone);</a:t>
            </a:r>
          </a:p>
          <a:p>
            <a:pPr>
              <a:defRPr sz="1300">
                <a:solidFill>
                  <a:srgbClr val="DCDCDC"/>
                </a:solidFill>
                <a:latin typeface="Consolas"/>
              </a:defRPr>
            </a:pPr>
          </a:p>
          <a:p>
            <a:pPr>
              <a:defRPr sz="1300">
                <a:solidFill>
                  <a:srgbClr val="DCDCDC"/>
                </a:solidFill>
                <a:latin typeface="Consolas"/>
              </a:defRPr>
            </a:pPr>
            <a:r>
              <a:t>// THE MUSCLE (60 Hz): Execution</a:t>
            </a:r>
          </a:p>
          <a:p>
            <a:pPr>
              <a:defRPr sz="1300">
                <a:solidFill>
                  <a:srgbClr val="DCDCDC"/>
                </a:solidFill>
                <a:latin typeface="Consolas"/>
              </a:defRPr>
            </a:pPr>
            <a:r>
              <a:t>for (auto&amp; [battery, cap] : ecs.View&lt;ActiveCapability&gt;()) {</a:t>
            </a:r>
          </a:p>
          <a:p>
            <a:pPr>
              <a:defRPr sz="1300">
                <a:solidFill>
                  <a:srgbClr val="DCDCDC"/>
                </a:solidFill>
                <a:latin typeface="Consolas"/>
              </a:defRPr>
            </a:pPr>
            <a:r>
              <a:t>    cap(params); // Direct static call</a:t>
            </a:r>
          </a:p>
          <a:p>
            <a:pPr>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207676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15 - THREE LEVELS (The Performance Ladder)</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Level 1: Classic OOP vtable       -&gt; ~20.0 ns</a:t>
            </a:r>
          </a:p>
          <a:p>
            <a:pPr>
              <a:defRPr sz="1300">
                <a:solidFill>
                  <a:srgbClr val="DCDCDC"/>
                </a:solidFill>
                <a:latin typeface="Consolas"/>
              </a:defRPr>
            </a:pPr>
            <a:r>
              <a:t>entity.GetBehavior()-&gt;Update();</a:t>
            </a:r>
          </a:p>
          <a:p>
            <a:pPr>
              <a:defRPr sz="1300">
                <a:solidFill>
                  <a:srgbClr val="DCDCDC"/>
                </a:solidFill>
                <a:latin typeface="Consolas"/>
              </a:defRPr>
            </a:pPr>
          </a:p>
          <a:p>
            <a:pPr>
              <a:defRPr sz="1300">
                <a:solidFill>
                  <a:srgbClr val="DCDCDC"/>
                </a:solidFill>
                <a:latin typeface="Consolas"/>
              </a:defRPr>
            </a:pPr>
            <a:r>
              <a:t>// Level 2: CRG Shell (Cold Path)    -&gt;  ~7.0 ns</a:t>
            </a:r>
          </a:p>
          <a:p>
            <a:pPr>
              <a:defRPr sz="1300">
                <a:solidFill>
                  <a:srgbClr val="DCDCDC"/>
                </a:solidFill>
                <a:latin typeface="Consolas"/>
              </a:defRPr>
            </a:pPr>
            <a:r>
              <a:t>shell.Invoke&lt;&amp;IMovement::Move&gt;();</a:t>
            </a:r>
          </a:p>
          <a:p>
            <a:pPr>
              <a:defRPr sz="1300">
                <a:solidFill>
                  <a:srgbClr val="DCDCDC"/>
                </a:solidFill>
                <a:latin typeface="Consolas"/>
              </a:defRPr>
            </a:pPr>
          </a:p>
          <a:p>
            <a:pPr>
              <a:defRPr sz="1300">
                <a:solidFill>
                  <a:srgbClr val="DCDCDC"/>
                </a:solidFill>
                <a:latin typeface="Consolas"/>
              </a:defRPr>
            </a:pPr>
            <a:r>
              <a:t>// Level 3: ActiveCapability (DOD)   -&gt;  ~1.5 ns</a:t>
            </a:r>
          </a:p>
          <a:p>
            <a:pPr>
              <a:defRPr sz="1300">
                <a:solidFill>
                  <a:srgbClr val="DCDCDC"/>
                </a:solidFill>
                <a:latin typeface="Consolas"/>
              </a:defRPr>
            </a:pPr>
            <a:r>
              <a:t>cap(params); // Zero virtual. Direct ptr.</a:t>
            </a:r>
          </a:p>
        </p:txBody>
      </p:sp>
      <p:pic>
        <p:nvPicPr>
          <p:cNvPr id="4" name="Picture 3" descr="image.jpg"/>
          <p:cNvPicPr>
            <a:picLocks noChangeAspect="1"/>
          </p:cNvPicPr>
          <p:nvPr/>
        </p:nvPicPr>
        <p:blipFill>
          <a:blip r:embed="rId2"/>
          <a:stretch>
            <a:fillRect/>
          </a:stretch>
        </p:blipFill>
        <p:spPr>
          <a:xfrm>
            <a:off x="6583680" y="1645920"/>
            <a:ext cx="5029200" cy="709704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16 - REACHING THE SILICON LIMIT (Benchmarks)</a:t>
            </a:r>
          </a:p>
        </p:txBody>
      </p:sp>
      <p:pic>
        <p:nvPicPr>
          <p:cNvPr id="3" name="Picture 2" descr="crg_benchmark_final_20260501_003619.png"/>
          <p:cNvPicPr>
            <a:picLocks noChangeAspect="1"/>
          </p:cNvPicPr>
          <p:nvPr/>
        </p:nvPicPr>
        <p:blipFill>
          <a:blip r:embed="rId2"/>
          <a:stretch>
            <a:fillRect/>
          </a:stretch>
        </p:blipFill>
        <p:spPr>
          <a:xfrm>
            <a:off x="457200" y="1645920"/>
            <a:ext cx="4114800" cy="2743200"/>
          </a:xfrm>
          <a:prstGeom prst="rect">
            <a:avLst/>
          </a:prstGeom>
        </p:spPr>
      </p:pic>
      <p:pic>
        <p:nvPicPr>
          <p:cNvPr id="4" name="Picture 3" descr="simulator_qr.png"/>
          <p:cNvPicPr>
            <a:picLocks noChangeAspect="1"/>
          </p:cNvPicPr>
          <p:nvPr/>
        </p:nvPicPr>
        <p:blipFill>
          <a:blip r:embed="rId3"/>
          <a:stretch>
            <a:fillRect/>
          </a:stretch>
        </p:blipFill>
        <p:spPr>
          <a:xfrm>
            <a:off x="9601200" y="1645920"/>
            <a:ext cx="2011680" cy="2011680"/>
          </a:xfrm>
          <a:prstGeom prst="rect">
            <a:avLst/>
          </a:prstGeom>
        </p:spPr>
      </p:pic>
      <p:sp>
        <p:nvSpPr>
          <p:cNvPr id="5" name="TextBox 4"/>
          <p:cNvSpPr txBox="1"/>
          <p:nvPr/>
        </p:nvSpPr>
        <p:spPr>
          <a:xfrm>
            <a:off x="9601200" y="3749039"/>
            <a:ext cx="2011680" cy="914400"/>
          </a:xfrm>
          <a:prstGeom prst="rect">
            <a:avLst/>
          </a:prstGeom>
          <a:noFill/>
        </p:spPr>
        <p:txBody>
          <a:bodyPr wrap="none">
            <a:spAutoFit/>
          </a:bodyPr>
          <a:lstStyle/>
          <a:p>
            <a:pPr algn="ctr">
              <a:defRPr sz="1200">
                <a:solidFill>
                  <a:srgbClr val="DCDCDC"/>
                </a:solidFill>
              </a:defRPr>
            </a:pPr>
            <a:r>
              <a:t>Scan to challenge</a:t>
            </a:r>
            <a:br/>
            <a:r>
              <a:t>these results live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17 - STRESS TEST SIMULATION (High Volatility)</a:t>
            </a:r>
          </a:p>
        </p:txBody>
      </p:sp>
      <p:pic>
        <p:nvPicPr>
          <p:cNvPr id="3" name="Picture 2" descr="crg_benchmark_final_20260501_003619.png"/>
          <p:cNvPicPr>
            <a:picLocks noChangeAspect="1"/>
          </p:cNvPicPr>
          <p:nvPr/>
        </p:nvPicPr>
        <p:blipFill>
          <a:blip r:embed="rId2"/>
          <a:stretch>
            <a:fillRect/>
          </a:stretch>
        </p:blipFill>
        <p:spPr>
          <a:xfrm>
            <a:off x="457200" y="1645920"/>
            <a:ext cx="4114800" cy="2743200"/>
          </a:xfrm>
          <a:prstGeom prst="rect">
            <a:avLst/>
          </a:prstGeom>
        </p:spPr>
      </p:pic>
      <p:pic>
        <p:nvPicPr>
          <p:cNvPr id="4" name="Picture 3" descr="simulator_qr.png"/>
          <p:cNvPicPr>
            <a:picLocks noChangeAspect="1"/>
          </p:cNvPicPr>
          <p:nvPr/>
        </p:nvPicPr>
        <p:blipFill>
          <a:blip r:embed="rId3"/>
          <a:stretch>
            <a:fillRect/>
          </a:stretch>
        </p:blipFill>
        <p:spPr>
          <a:xfrm>
            <a:off x="9601200" y="1645920"/>
            <a:ext cx="2011680" cy="2011680"/>
          </a:xfrm>
          <a:prstGeom prst="rect">
            <a:avLst/>
          </a:prstGeom>
        </p:spPr>
      </p:pic>
      <p:sp>
        <p:nvSpPr>
          <p:cNvPr id="5" name="TextBox 4"/>
          <p:cNvSpPr txBox="1"/>
          <p:nvPr/>
        </p:nvSpPr>
        <p:spPr>
          <a:xfrm>
            <a:off x="9601200" y="3749039"/>
            <a:ext cx="2011680" cy="914400"/>
          </a:xfrm>
          <a:prstGeom prst="rect">
            <a:avLst/>
          </a:prstGeom>
          <a:noFill/>
        </p:spPr>
        <p:txBody>
          <a:bodyPr wrap="none">
            <a:spAutoFit/>
          </a:bodyPr>
          <a:lstStyle/>
          <a:p>
            <a:pPr algn="ctr">
              <a:defRPr sz="1200">
                <a:solidFill>
                  <a:srgbClr val="DCDCDC"/>
                </a:solidFill>
              </a:defRPr>
            </a:pPr>
            <a:r>
              <a:t>Scan to challenge</a:t>
            </a:r>
            <a:br/>
            <a:r>
              <a:t>these results live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18 - CONCLUSION</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1. Zero Coupling  (Linker)</a:t>
            </a:r>
          </a:p>
          <a:p>
            <a:pPr>
              <a:defRPr sz="1300">
                <a:solidFill>
                  <a:srgbClr val="DCDCDC"/>
                </a:solidFill>
                <a:latin typeface="Consolas"/>
              </a:defRPr>
            </a:pPr>
            <a:r>
              <a:t>// 2. Zero Search    (Math)</a:t>
            </a:r>
          </a:p>
          <a:p>
            <a:pPr>
              <a:defRPr sz="1300">
                <a:solidFill>
                  <a:srgbClr val="DCDCDC"/>
                </a:solidFill>
                <a:latin typeface="Consolas"/>
              </a:defRPr>
            </a:pPr>
            <a:r>
              <a:t>// 3. Zero Migration (Hardware)</a:t>
            </a:r>
          </a:p>
          <a:p>
            <a:pPr>
              <a:defRPr sz="1300">
                <a:solidFill>
                  <a:srgbClr val="DCDCDC"/>
                </a:solidFill>
                <a:latin typeface="Consolas"/>
              </a:defRPr>
            </a:pPr>
          </a:p>
          <a:p>
            <a:pPr>
              <a:defRPr sz="1300">
                <a:solidFill>
                  <a:srgbClr val="DCDCDC"/>
                </a:solidFill>
                <a:latin typeface="Consolas"/>
              </a:defRPr>
            </a:pPr>
            <a:r>
              <a:t>// CRG is what happens when you </a:t>
            </a:r>
          </a:p>
          <a:p>
            <a:pPr>
              <a:defRPr sz="1300">
                <a:solidFill>
                  <a:srgbClr val="DCDCDC"/>
                </a:solidFill>
                <a:latin typeface="Consolas"/>
              </a:defRPr>
            </a:pPr>
            <a:r>
              <a:t>// stop fighting C++.</a:t>
            </a:r>
          </a:p>
        </p:txBody>
      </p:sp>
      <p:pic>
        <p:nvPicPr>
          <p:cNvPr id="4" name="Picture 3" descr="image.jpg"/>
          <p:cNvPicPr>
            <a:picLocks noChangeAspect="1"/>
          </p:cNvPicPr>
          <p:nvPr/>
        </p:nvPicPr>
        <p:blipFill>
          <a:blip r:embed="rId2"/>
          <a:stretch>
            <a:fillRect/>
          </a:stretch>
        </p:blipFill>
        <p:spPr>
          <a:xfrm>
            <a:off x="6583680" y="1645920"/>
            <a:ext cx="5029200" cy="86538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