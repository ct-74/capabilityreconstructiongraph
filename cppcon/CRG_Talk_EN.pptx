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look at the silicon of a modern CPU, the Level 1 cache is physically divided in two: the Data Cache (L1D) and the Instruction Cache (L1I). The hardware itself demands a strict separation between state and behavior to reach peak efficiency. Yet, for decades, we have forced them together in our objects. Stateless Behavior Projection is the answer. We stop fighting the hardware. We treat data and logic as two parallel dimensions — mirroring the silicon itself.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touch a header. One bool. You hit build. 38 minutes later, you're still waiting. That's Include Hell. It doesn't feel like a performance problem; it feels like a morale problem. But it's an architecture problem. Everything is entangled at compile time. CRG cuts that knot: how do you get behaviors to discover each other at link time, with zero shared headers?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production, you have modules registering capabilities without the core knowing they exist. CRG_BIND_SLOT anchors the registry in the core, allowing DLLs to resolve to a single address via the linker. Define a struct, instantiate it as a static, and the OS fires the constructor on load. It's a fully functional plugin system obtained for free.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initialization gives us free discovery, but walking a linked list for 100k entities is performance suicide. The Bake solves this: the first time Find() is called, the list is flattened into a dense, contiguous matrix. Lookup becomes a calculation, not a search. We trade dynamic flexibility for static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ModelShell is a logic-empty shell that carries data and preserves identity across boundaries. The only job is data transport. It uses Small Buffer Optimization (SBO) to ensure zero heap allocation and fits within a cache line. The data recovery via Get&lt;T&gt;() only happens inside the behavior that knows the type.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 forbids virtual template methods — the 'Virtual Deadlock'. ModelShell breaks this by splitting the concerns: one virtual method (GetID()) for identity, and a non-virtual template method (Get&lt;T&gt;()) for data recovery. One virtual jump to identify, one static_cast to recover. The lock is broken.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Logic, and Binding are orthogonal dimensions that never include each other. The Gateway resolves them at runtime through the baked matrix. You can add a new capability by dropping a new .cpp file with a static binding. We compose systems at link time, not at compile time.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Invoke and TryInvoke provide an OOP illusion for the cold path. The method pointer is analyzed at compile time to extract the interface and validate the signature. It pays one virtual call to recover the type, then jumps into the tensor. Use it for queries, never in a hot loop.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Manual registration doesn't scale. The Baker fixes this by expanding a TypeList of models across templatized capabilities. One static line generates N entries in the matrix. Group definitions by domain and let the matrix build itself.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Baker is elegant, but Find() is still O(N) over the number of registered models. For 100k entities, this is a bottleneck. We need pure math: compute an offset and jump. But hashes can't be array indices. We need to collapse the sparse ID universe.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ModelTypeIDs are arbitrary hashes scattered across a 4-billion slot space. You can't index an array with them. DenseTypeID collapses this sparse universe into consecutive integers (0, 1, 2...) assigned at startup. Now lookup is one array access.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DenseID is thread-safe (C++11 static local) and assigned exactly once per type. We build a flat tensor where rows are DenseIDs and columns are context offsets. No loop, no comparison, no hash collision. Finding a capability is now just a question of 'what is the offset?'.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behavior depends on context axes: State, Zone, Authority. Space encodes these at compile time. ComputeOffset uses Horner's method — one accumulation, no branches. Whether you have one dimension or ten, the lookup cost stays flat: two array accesses. Complexity is free.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mutable topology, behavior changes are structural operations that break the CPU prefetcher. In CRG, the matrix is frozen. A behavior transition is just a coordinate update. The memory addresses never change, so the prefetcher never loses its stream. Immutability is a performance guarantee.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ECS manages the data pipeline (Muscle); CRG manages logic projection (Brain). The Brain ticks at 5Hz, makes the decision via O(1) lookup, and caches it in ActiveCapability. The Muscle ticks at 60fps, iterating packed arrays and calling the pointer directly. We are bottlenecked by RAM, not logic.</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levels of speed. Level 1: classic OOP vtable dispatch (~20ns). Level 2: CRG Shell Invoke, paying a virtual jump for type erasure (~7ns) — perfect for cold paths. Level 3: ActiveCapability, cached results called directly via function pointer (1.5ns). We've reached the physical hardware limit.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10% mutation, ECS is 30% slower because of structural migrations. CRG stays flat because data never moves. As the dataset grows past L3 cache, ECS spikes while CRG flatlines. CRG makes data immobile, which makes it predictable for the hardware.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CRG is a linker-driven dispatch framework for any C++ system needing decoupling and performance. Three guarantees: Zero coupling (modules self-register), Zero search (context is a coordinate), Zero migration (topology is immutable). Stop fighting C++ and the hardware. Give them what they were built for.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jpg"/><Relationship Id="rId3"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Title 1"/>
          <p:cNvSpPr>
            <a:spLocks noGrp="1"/>
          </p:cNvSpPr>
          <p:nvPr>
            <p:ph type="title"/>
          </p:nvPr>
        </p:nvSpPr>
        <p:spPr/>
        <p:txBody>
          <a:bodyPr/>
          <a:lstStyle/>
          <a:p>
            <a:pPr>
              <a:defRPr sz="3600">
                <a:solidFill>
                  <a:srgbClr val="6496FF"/>
                </a:solidFill>
              </a:defRPr>
            </a:pPr>
            <a:r>
              <a:t>00 - THE HOOK (Hardware-Software Symmetry)</a:t>
            </a:r>
          </a:p>
        </p:txBody>
      </p:sp>
      <p:sp>
        <p:nvSpPr>
          <p:cNvPr id="3" name="TextBox 2"/>
          <p:cNvSpPr txBox="1"/>
          <p:nvPr/>
        </p:nvSpPr>
        <p:spPr>
          <a:xfrm>
            <a:off x="457200" y="1371600"/>
            <a:ext cx="5943600" cy="5029200"/>
          </a:xfrm>
          <a:prstGeom prst="rect">
            <a:avLst/>
          </a:prstGeom>
          <a:solidFill>
            <a:srgbClr val="1E1E1E"/>
          </a:solidFill>
        </p:spPr>
        <p:txBody>
          <a:bodyPr wrap="square">
            <a:spAutoFit/>
          </a:bodyPr>
          <a:lstStyle/>
          <a:p>
            <a:pPr algn="l">
              <a:defRPr sz="1300">
                <a:solidFill>
                  <a:srgbClr val="DCDCDC"/>
                </a:solidFill>
                <a:latin typeface="Consolas"/>
              </a:defRPr>
            </a:pPr>
            <a:r>
              <a:t>// Hardware Reality: Physical Separation</a:t>
            </a:r>
          </a:p>
          <a:p>
            <a:pPr algn="l">
              <a:defRPr sz="1300">
                <a:solidFill>
                  <a:srgbClr val="DCDCDC"/>
                </a:solidFill>
                <a:latin typeface="Consolas"/>
              </a:defRPr>
            </a:pPr>
            <a:r>
              <a:t>// L1 Instruction Cache (L1I)  &lt;==&gt;  Stateless Behaviors</a:t>
            </a:r>
          </a:p>
          <a:p>
            <a:pPr algn="l">
              <a:defRPr sz="1300">
                <a:solidFill>
                  <a:srgbClr val="DCDCDC"/>
                </a:solidFill>
                <a:latin typeface="Consolas"/>
              </a:defRPr>
            </a:pPr>
            <a:r>
              <a:t>// L1 Data Cache (L1D)         &lt;==&gt;  Pure Data Models</a:t>
            </a:r>
          </a:p>
          <a:p>
            <a:pPr algn="l">
              <a:defRPr sz="1300">
                <a:solidFill>
                  <a:srgbClr val="DCDCDC"/>
                </a:solidFill>
                <a:latin typeface="Consolas"/>
              </a:defRPr>
            </a:pPr>
          </a:p>
          <a:p>
            <a:pPr algn="l">
              <a:defRPr sz="1300">
                <a:solidFill>
                  <a:srgbClr val="DCDCDC"/>
                </a:solidFill>
                <a:latin typeface="Consolas"/>
              </a:defRPr>
            </a:pPr>
            <a:r>
              <a:t>// The Software Conflict:</a:t>
            </a:r>
          </a:p>
          <a:p>
            <a:pPr algn="l">
              <a:defRPr sz="1300">
                <a:solidFill>
                  <a:srgbClr val="DCDCDC"/>
                </a:solidFill>
                <a:latin typeface="Consolas"/>
              </a:defRPr>
            </a:pPr>
            <a:r>
              <a:t>struct TraditionalObject {</a:t>
            </a:r>
          </a:p>
          <a:p>
            <a:pPr algn="l">
              <a:defRPr sz="1300">
                <a:solidFill>
                  <a:srgbClr val="DCDCDC"/>
                </a:solidFill>
                <a:latin typeface="Consolas"/>
              </a:defRPr>
            </a:pPr>
            <a:r>
              <a:t>    void Behavior(); // L1I</a:t>
            </a:r>
          </a:p>
          <a:p>
            <a:pPr algn="l">
              <a:defRPr sz="1300">
                <a:solidFill>
                  <a:srgbClr val="DCDCDC"/>
                </a:solidFill>
                <a:latin typeface="Consolas"/>
              </a:defRPr>
            </a:pPr>
            <a:r>
              <a:t>    float Data;      // L1D</a:t>
            </a:r>
          </a:p>
          <a:p>
            <a:pPr algn="l">
              <a:defRPr sz="1300">
                <a:solidFill>
                  <a:srgbClr val="DCDCDC"/>
                </a:solidFill>
                <a:latin typeface="Consolas"/>
              </a:defRPr>
            </a:pPr>
            <a:r>
              <a:t>}; // Forces coupling where hardware demands split.</a:t>
            </a:r>
          </a:p>
        </p:txBody>
      </p:sp>
      <p:pic>
        <p:nvPicPr>
          <p:cNvPr id="4" name="Picture 3" descr="image.jpg"/>
          <p:cNvPicPr>
            <a:picLocks noChangeAspect="1"/>
          </p:cNvPicPr>
          <p:nvPr/>
        </p:nvPicPr>
        <p:blipFill>
          <a:blip r:embed="rId2"/>
          <a:stretch>
            <a:fillRect/>
          </a:stretch>
        </p:blipFill>
        <p:spPr>
          <a:xfrm>
            <a:off x="6583680" y="1645920"/>
            <a:ext cx="5029200" cy="1511237"/>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Title 1"/>
          <p:cNvSpPr>
            <a:spLocks noGrp="1"/>
          </p:cNvSpPr>
          <p:nvPr>
            <p:ph type="title"/>
          </p:nvPr>
        </p:nvSpPr>
        <p:spPr/>
        <p:txBody>
          <a:bodyPr/>
          <a:lstStyle/>
          <a:p>
            <a:pPr>
              <a:defRPr sz="3600">
                <a:solidFill>
                  <a:srgbClr val="6496FF"/>
                </a:solidFill>
              </a:defRPr>
            </a:pPr>
            <a:r>
              <a:t>01 - THE COST OF COUPLING (The Build Wall)</a:t>
            </a:r>
          </a:p>
        </p:txBody>
      </p:sp>
      <p:sp>
        <p:nvSpPr>
          <p:cNvPr id="3" name="TextBox 2"/>
          <p:cNvSpPr txBox="1"/>
          <p:nvPr/>
        </p:nvSpPr>
        <p:spPr>
          <a:xfrm>
            <a:off x="457200" y="1371600"/>
            <a:ext cx="5943600" cy="5029200"/>
          </a:xfrm>
          <a:prstGeom prst="rect">
            <a:avLst/>
          </a:prstGeom>
          <a:solidFill>
            <a:srgbClr val="1E1E1E"/>
          </a:solidFill>
        </p:spPr>
        <p:txBody>
          <a:bodyPr wrap="square">
            <a:spAutoFit/>
          </a:bodyPr>
          <a:lstStyle/>
          <a:p>
            <a:pPr algn="l">
              <a:defRPr sz="1300">
                <a:solidFill>
                  <a:srgbClr val="DCDCDC"/>
                </a:solidFill>
                <a:latin typeface="Consolas"/>
              </a:defRPr>
            </a:pPr>
            <a:r>
              <a:t>// You change this:</a:t>
            </a:r>
          </a:p>
          <a:p>
            <a:pPr algn="l">
              <a:defRPr sz="1300">
                <a:solidFill>
                  <a:srgbClr val="DCDCDC"/>
                </a:solidFill>
                <a:latin typeface="Consolas"/>
              </a:defRPr>
            </a:pPr>
            <a:r>
              <a:t>struct ConfigManager {</a:t>
            </a:r>
          </a:p>
          <a:p>
            <a:pPr algn="l">
              <a:defRPr sz="1300">
                <a:solidFill>
                  <a:srgbClr val="DCDCDC"/>
                </a:solidFill>
                <a:latin typeface="Consolas"/>
              </a:defRPr>
            </a:pPr>
            <a:r>
              <a:t>    bool b_EnableFeatureX = false; // ← one bool</a:t>
            </a:r>
          </a:p>
          <a:p>
            <a:pPr algn="l">
              <a:defRPr sz="1300">
                <a:solidFill>
                  <a:srgbClr val="DCDCDC"/>
                </a:solidFill>
                <a:latin typeface="Consolas"/>
              </a:defRPr>
            </a:pPr>
            <a:r>
              <a:t>};</a:t>
            </a:r>
          </a:p>
          <a:p>
            <a:pPr algn="l">
              <a:defRPr sz="1300">
                <a:solidFill>
                  <a:srgbClr val="DCDCDC"/>
                </a:solidFill>
                <a:latin typeface="Consolas"/>
              </a:defRPr>
            </a:pPr>
          </a:p>
          <a:p>
            <a:pPr algn="l">
              <a:defRPr sz="1300">
                <a:solidFill>
                  <a:srgbClr val="DCDCDC"/>
                </a:solidFill>
                <a:latin typeface="Consolas"/>
              </a:defRPr>
            </a:pPr>
            <a:r>
              <a:t>// The compiler punishes everyone:</a:t>
            </a:r>
          </a:p>
          <a:p>
            <a:pPr algn="l">
              <a:defRPr sz="1300">
                <a:solidFill>
                  <a:srgbClr val="DCDCDC"/>
                </a:solidFill>
                <a:latin typeface="Consolas"/>
              </a:defRPr>
            </a:pPr>
            <a:r>
              <a:t>// config_manager.h -&gt; service_layer.h -&gt; data_pipeline.h -&gt; ui_controller.h</a:t>
            </a:r>
          </a:p>
          <a:p>
            <a:pPr algn="l">
              <a:defRPr sz="1300">
                <a:solidFill>
                  <a:srgbClr val="DCDCDC"/>
                </a:solidFill>
                <a:latin typeface="Consolas"/>
              </a:defRPr>
            </a:pPr>
            <a:r>
              <a:t>// 217 files recompile. 38 minutes. Every programmer. Every day.</a:t>
            </a:r>
          </a:p>
        </p:txBody>
      </p:sp>
      <p:pic>
        <p:nvPicPr>
          <p:cNvPr id="4" name="Picture 3" descr="image.jpg"/>
          <p:cNvPicPr>
            <a:picLocks noChangeAspect="1"/>
          </p:cNvPicPr>
          <p:nvPr/>
        </p:nvPicPr>
        <p:blipFill>
          <a:blip r:embed="rId2"/>
          <a:stretch>
            <a:fillRect/>
          </a:stretch>
        </p:blipFill>
        <p:spPr>
          <a:xfrm>
            <a:off x="6583680" y="1645920"/>
            <a:ext cx="5029200" cy="12954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Title 1"/>
          <p:cNvSpPr>
            <a:spLocks noGrp="1"/>
          </p:cNvSpPr>
          <p:nvPr>
            <p:ph type="title"/>
          </p:nvPr>
        </p:nvSpPr>
        <p:spPr/>
        <p:txBody>
          <a:bodyPr/>
          <a:lstStyle/>
          <a:p>
            <a:pPr>
              <a:defRPr sz="3600">
                <a:solidFill>
                  <a:srgbClr val="6496FF"/>
                </a:solidFill>
              </a:defRPr>
            </a:pPr>
            <a:r>
              <a:t>02 - THE INTRUSIVE BACKBONE (NodeList + RegistrySlot)</a:t>
            </a:r>
          </a:p>
        </p:txBody>
      </p:sp>
      <p:sp>
        <p:nvSpPr>
          <p:cNvPr id="3" name="TextBox 2"/>
          <p:cNvSpPr txBox="1"/>
          <p:nvPr/>
        </p:nvSpPr>
        <p:spPr>
          <a:xfrm>
            <a:off x="457200" y="1371600"/>
            <a:ext cx="5943600" cy="5029200"/>
          </a:xfrm>
          <a:prstGeom prst="rect">
            <a:avLst/>
          </a:prstGeom>
          <a:solidFill>
            <a:srgbClr val="1E1E1E"/>
          </a:solidFill>
        </p:spPr>
        <p:txBody>
          <a:bodyPr wrap="square">
            <a:spAutoFit/>
          </a:bodyPr>
          <a:lstStyle/>
          <a:p>
            <a:pPr algn="l">
              <a:defRPr sz="1300">
                <a:solidFill>
                  <a:srgbClr val="DCDCDC"/>
                </a:solidFill>
                <a:latin typeface="Consolas"/>
              </a:defRPr>
            </a:pPr>
            <a:r>
              <a:t>// RegistrySlot: Anchored definition in engine core</a:t>
            </a:r>
          </a:p>
          <a:p>
            <a:pPr algn="l">
              <a:defRPr sz="1300">
                <a:solidFill>
                  <a:srgbClr val="DCDCDC"/>
                </a:solidFill>
                <a:latin typeface="Consolas"/>
              </a:defRPr>
            </a:pPr>
            <a:r>
              <a:t>#define CRG_BIND_SLOT(T) template&lt;&gt; T RegistrySlot&lt;T&gt;::s_Value{};</a:t>
            </a:r>
          </a:p>
          <a:p>
            <a:pPr algn="l">
              <a:defRPr sz="1300">
                <a:solidFill>
                  <a:srgbClr val="DCDCDC"/>
                </a:solidFill>
                <a:latin typeface="Consolas"/>
              </a:defRPr>
            </a:pPr>
            <a:r>
              <a:t>CRG_BIND_SLOT(const BehaviorNode*)</a:t>
            </a:r>
          </a:p>
          <a:p>
            <a:pPr algn="l">
              <a:defRPr sz="1300">
                <a:solidFill>
                  <a:srgbClr val="DCDCDC"/>
                </a:solidFill>
                <a:latin typeface="Consolas"/>
              </a:defRPr>
            </a:pPr>
          </a:p>
          <a:p>
            <a:pPr algn="l">
              <a:defRPr sz="1300">
                <a:solidFill>
                  <a:srgbClr val="DCDCDC"/>
                </a:solidFill>
                <a:latin typeface="Consolas"/>
              </a:defRPr>
            </a:pPr>
            <a:r>
              <a:t>// MODULE A: Zero dependencies on core internals</a:t>
            </a:r>
          </a:p>
          <a:p>
            <a:pPr algn="l">
              <a:defRPr sz="1300">
                <a:solidFill>
                  <a:srgbClr val="DCDCDC"/>
                </a:solidFill>
                <a:latin typeface="Consolas"/>
              </a:defRPr>
            </a:pPr>
            <a:r>
              <a:t>struct DroneBehavior : NodeList&lt;BehaviorNode, IBehavior&gt; {</a:t>
            </a:r>
          </a:p>
          <a:p>
            <a:pPr algn="l">
              <a:defRPr sz="1300">
                <a:solidFill>
                  <a:srgbClr val="DCDCDC"/>
                </a:solidFill>
                <a:latin typeface="Consolas"/>
              </a:defRPr>
            </a:pPr>
            <a:r>
              <a:t>    void Execute() const override { /* ... */ }</a:t>
            </a:r>
          </a:p>
          <a:p>
            <a:pPr algn="l">
              <a:defRPr sz="1300">
                <a:solidFill>
                  <a:srgbClr val="DCDCDC"/>
                </a:solidFill>
                <a:latin typeface="Consolas"/>
              </a:defRPr>
            </a:pPr>
            <a:r>
              <a:t>};</a:t>
            </a:r>
          </a:p>
          <a:p>
            <a:pPr algn="l">
              <a:defRPr sz="1300">
                <a:solidFill>
                  <a:srgbClr val="DCDCDC"/>
                </a:solidFill>
                <a:latin typeface="Consolas"/>
              </a:defRPr>
            </a:pPr>
            <a:r>
              <a:t>static DroneBehavior g_drone; // OS loads DLL, constructor fires.</a:t>
            </a:r>
          </a:p>
        </p:txBody>
      </p:sp>
      <p:pic>
        <p:nvPicPr>
          <p:cNvPr id="4" name="Picture 3" descr="image.jpg"/>
          <p:cNvPicPr>
            <a:picLocks noChangeAspect="1"/>
          </p:cNvPicPr>
          <p:nvPr/>
        </p:nvPicPr>
        <p:blipFill>
          <a:blip r:embed="rId2"/>
          <a:stretch>
            <a:fillRect/>
          </a:stretch>
        </p:blipFill>
        <p:spPr>
          <a:xfrm>
            <a:off x="6583680" y="1645920"/>
            <a:ext cx="5029200" cy="2997403"/>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Title 1"/>
          <p:cNvSpPr>
            <a:spLocks noGrp="1"/>
          </p:cNvSpPr>
          <p:nvPr>
            <p:ph type="title"/>
          </p:nvPr>
        </p:nvSpPr>
        <p:spPr/>
        <p:txBody>
          <a:bodyPr/>
          <a:lstStyle/>
          <a:p>
            <a:pPr>
              <a:defRPr sz="3600">
                <a:solidFill>
                  <a:srgbClr val="6496FF"/>
                </a:solidFill>
              </a:defRPr>
            </a:pPr>
            <a:r>
              <a:t>03 - THE BAKING (Taking Back Control)</a:t>
            </a:r>
          </a:p>
        </p:txBody>
      </p:sp>
      <p:sp>
        <p:nvSpPr>
          <p:cNvPr id="3" name="TextBox 2"/>
          <p:cNvSpPr txBox="1"/>
          <p:nvPr/>
        </p:nvSpPr>
        <p:spPr>
          <a:xfrm>
            <a:off x="457200" y="1371600"/>
            <a:ext cx="5943600" cy="5029200"/>
          </a:xfrm>
          <a:prstGeom prst="rect">
            <a:avLst/>
          </a:prstGeom>
          <a:solidFill>
            <a:srgbClr val="1E1E1E"/>
          </a:solidFill>
        </p:spPr>
        <p:txBody>
          <a:bodyPr wrap="square">
            <a:spAutoFit/>
          </a:bodyPr>
          <a:lstStyle/>
          <a:p>
            <a:pPr algn="l">
              <a:defRPr sz="1300">
                <a:solidFill>
                  <a:srgbClr val="DCDCDC"/>
                </a:solidFill>
                <a:latin typeface="Consolas"/>
              </a:defRPr>
            </a:pPr>
            <a:r>
              <a:t>// DISCOVERY: Linked list traversal (Cache Miss)</a:t>
            </a:r>
          </a:p>
          <a:p>
            <a:pPr algn="l">
              <a:defRPr sz="1300">
                <a:solidFill>
                  <a:srgbClr val="DCDCDC"/>
                </a:solidFill>
                <a:latin typeface="Consolas"/>
              </a:defRPr>
            </a:pPr>
            <a:r>
              <a:t>for (auto* n = Anchor::s_Value; n; n = n-&gt;m_Next) {</a:t>
            </a:r>
          </a:p>
          <a:p>
            <a:pPr algn="l">
              <a:defRPr sz="1300">
                <a:solidFill>
                  <a:srgbClr val="DCDCDC"/>
                </a:solidFill>
                <a:latin typeface="Consolas"/>
              </a:defRPr>
            </a:pPr>
            <a:r>
              <a:t>    if (n-&gt;GetID() == modelID) return n; </a:t>
            </a:r>
          </a:p>
          <a:p>
            <a:pPr algn="l">
              <a:defRPr sz="1300">
                <a:solidFill>
                  <a:srgbClr val="DCDCDC"/>
                </a:solidFill>
                <a:latin typeface="Consolas"/>
              </a:defRPr>
            </a:pPr>
            <a:r>
              <a:t>}</a:t>
            </a:r>
          </a:p>
          <a:p>
            <a:pPr algn="l">
              <a:defRPr sz="1300">
                <a:solidFill>
                  <a:srgbClr val="DCDCDC"/>
                </a:solidFill>
                <a:latin typeface="Consolas"/>
              </a:defRPr>
            </a:pPr>
          </a:p>
          <a:p>
            <a:pPr algn="l">
              <a:defRPr sz="1300">
                <a:solidFill>
                  <a:srgbClr val="DCDCDC"/>
                </a:solidFill>
                <a:latin typeface="Consolas"/>
              </a:defRPr>
            </a:pPr>
            <a:r>
              <a:t>// BAKED: StaticGuard triggers once automatically.</a:t>
            </a:r>
          </a:p>
          <a:p>
            <a:pPr algn="l">
              <a:defRPr sz="1300">
                <a:solidFill>
                  <a:srgbClr val="DCDCDC"/>
                </a:solidFill>
                <a:latin typeface="Consolas"/>
              </a:defRPr>
            </a:pPr>
            <a:r>
              <a:t>// Flattened into a contiguous matrix.</a:t>
            </a:r>
          </a:p>
          <a:p>
            <a:pPr algn="l">
              <a:defRPr sz="1300">
                <a:solidFill>
                  <a:srgbClr val="DCDCDC"/>
                </a:solidFill>
                <a:latin typeface="Consolas"/>
              </a:defRPr>
            </a:pPr>
            <a:r>
              <a:t>return s_CapabilityTensor[denseModelID][contextOffset]; // O(1)</a:t>
            </a:r>
          </a:p>
        </p:txBody>
      </p:sp>
      <p:pic>
        <p:nvPicPr>
          <p:cNvPr id="4" name="Picture 3" descr="image.jpg"/>
          <p:cNvPicPr>
            <a:picLocks noChangeAspect="1"/>
          </p:cNvPicPr>
          <p:nvPr/>
        </p:nvPicPr>
        <p:blipFill>
          <a:blip r:embed="rId2"/>
          <a:stretch>
            <a:fillRect/>
          </a:stretch>
        </p:blipFill>
        <p:spPr>
          <a:xfrm>
            <a:off x="6583680" y="1645920"/>
            <a:ext cx="5029200" cy="843219"/>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Title 1"/>
          <p:cNvSpPr>
            <a:spLocks noGrp="1"/>
          </p:cNvSpPr>
          <p:nvPr>
            <p:ph type="title"/>
          </p:nvPr>
        </p:nvSpPr>
        <p:spPr/>
        <p:txBody>
          <a:bodyPr/>
          <a:lstStyle/>
          <a:p>
            <a:pPr>
              <a:defRPr sz="3600">
                <a:solidFill>
                  <a:srgbClr val="6496FF"/>
                </a:solidFill>
              </a:defRPr>
            </a:pPr>
            <a:r>
              <a:t>04 - THE OPAQUE TRANSPORT (ModelShell)</a:t>
            </a:r>
          </a:p>
        </p:txBody>
      </p:sp>
      <p:sp>
        <p:nvSpPr>
          <p:cNvPr id="3" name="TextBox 2"/>
          <p:cNvSpPr txBox="1"/>
          <p:nvPr/>
        </p:nvSpPr>
        <p:spPr>
          <a:xfrm>
            <a:off x="457200" y="1371600"/>
            <a:ext cx="5943600" cy="5029200"/>
          </a:xfrm>
          <a:prstGeom prst="rect">
            <a:avLst/>
          </a:prstGeom>
          <a:solidFill>
            <a:srgbClr val="1E1E1E"/>
          </a:solidFill>
        </p:spPr>
        <p:txBody>
          <a:bodyPr wrap="square">
            <a:spAutoFit/>
          </a:bodyPr>
          <a:lstStyle/>
          <a:p>
            <a:pPr algn="l">
              <a:defRPr sz="1300">
                <a:solidFill>
                  <a:srgbClr val="DCDCDC"/>
                </a:solidFill>
                <a:latin typeface="Consolas"/>
              </a:defRPr>
            </a:pPr>
            <a:r>
              <a:t>class ModelShell {</a:t>
            </a:r>
          </a:p>
          <a:p>
            <a:pPr algn="l">
              <a:defRPr sz="1300">
                <a:solidFill>
                  <a:srgbClr val="DCDCDC"/>
                </a:solidFill>
                <a:latin typeface="Consolas"/>
              </a:defRPr>
            </a:pPr>
            <a:r>
              <a:t>    struct Concept { virtual ModelTypeID GetID() const = 0; };</a:t>
            </a:r>
          </a:p>
          <a:p>
            <a:pPr algn="l">
              <a:defRPr sz="1300">
                <a:solidFill>
                  <a:srgbClr val="DCDCDC"/>
                </a:solidFill>
                <a:latin typeface="Consolas"/>
              </a:defRPr>
            </a:pPr>
            <a:r>
              <a:t>    template&lt;class T&gt; struct Model : Concept { T value; };</a:t>
            </a:r>
          </a:p>
          <a:p>
            <a:pPr algn="l">
              <a:defRPr sz="1300">
                <a:solidFill>
                  <a:srgbClr val="DCDCDC"/>
                </a:solidFill>
                <a:latin typeface="Consolas"/>
              </a:defRPr>
            </a:pPr>
            <a:r>
              <a:t>    alignas(64) std::byte m_SBO[64]; // SBO, Zero heap</a:t>
            </a:r>
          </a:p>
          <a:p>
            <a:pPr algn="l">
              <a:defRPr sz="1300">
                <a:solidFill>
                  <a:srgbClr val="DCDCDC"/>
                </a:solidFill>
                <a:latin typeface="Consolas"/>
              </a:defRPr>
            </a:pPr>
            <a:r>
              <a:t>public:</a:t>
            </a:r>
          </a:p>
          <a:p>
            <a:pPr algn="l">
              <a:defRPr sz="1300">
                <a:solidFill>
                  <a:srgbClr val="DCDCDC"/>
                </a:solidFill>
                <a:latin typeface="Consolas"/>
              </a:defRPr>
            </a:pPr>
            <a:r>
              <a:t>    template&lt;class T&gt; const T&amp; Get() const {</a:t>
            </a:r>
          </a:p>
          <a:p>
            <a:pPr algn="l">
              <a:defRPr sz="1300">
                <a:solidFill>
                  <a:srgbClr val="DCDCDC"/>
                </a:solidFill>
                <a:latin typeface="Consolas"/>
              </a:defRPr>
            </a:pPr>
            <a:r>
              <a:t>        return static_cast&lt;const Model&lt;T&gt;*&gt;(m_ptr)-&gt;value;</a:t>
            </a:r>
          </a:p>
          <a:p>
            <a:pPr algn="l">
              <a:defRPr sz="1300">
                <a:solidFill>
                  <a:srgbClr val="DCDCDC"/>
                </a:solidFill>
                <a:latin typeface="Consolas"/>
              </a:defRPr>
            </a:pPr>
            <a:r>
              <a:t>    }</a:t>
            </a:r>
          </a:p>
          <a:p>
            <a:pPr algn="l">
              <a:defRPr sz="1300">
                <a:solidFill>
                  <a:srgbClr val="DCDCDC"/>
                </a:solidFill>
                <a:latin typeface="Consolas"/>
              </a:defRPr>
            </a:pPr>
            <a:r>
              <a:t>};</a:t>
            </a:r>
          </a:p>
        </p:txBody>
      </p:sp>
      <p:pic>
        <p:nvPicPr>
          <p:cNvPr id="4" name="Picture 3" descr="image.jpg"/>
          <p:cNvPicPr>
            <a:picLocks noChangeAspect="1"/>
          </p:cNvPicPr>
          <p:nvPr/>
        </p:nvPicPr>
        <p:blipFill>
          <a:blip r:embed="rId2"/>
          <a:stretch>
            <a:fillRect/>
          </a:stretch>
        </p:blipFill>
        <p:spPr>
          <a:xfrm>
            <a:off x="6583680" y="1645920"/>
            <a:ext cx="5029200" cy="89361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Title 1"/>
          <p:cNvSpPr>
            <a:spLocks noGrp="1"/>
          </p:cNvSpPr>
          <p:nvPr>
            <p:ph type="title"/>
          </p:nvPr>
        </p:nvSpPr>
        <p:spPr/>
        <p:txBody>
          <a:bodyPr/>
          <a:lstStyle/>
          <a:p>
            <a:pPr>
              <a:defRPr sz="3600">
                <a:solidFill>
                  <a:srgbClr val="6496FF"/>
                </a:solidFill>
              </a:defRPr>
            </a:pPr>
            <a:r>
              <a:t>05 - THE VIRTUAL DEADLOCK (Breaking the Lock)</a:t>
            </a:r>
          </a:p>
        </p:txBody>
      </p:sp>
      <p:sp>
        <p:nvSpPr>
          <p:cNvPr id="3" name="TextBox 2"/>
          <p:cNvSpPr txBox="1"/>
          <p:nvPr/>
        </p:nvSpPr>
        <p:spPr>
          <a:xfrm>
            <a:off x="457200" y="1371600"/>
            <a:ext cx="5943600" cy="5029200"/>
          </a:xfrm>
          <a:prstGeom prst="rect">
            <a:avLst/>
          </a:prstGeom>
          <a:solidFill>
            <a:srgbClr val="1E1E1E"/>
          </a:solidFill>
        </p:spPr>
        <p:txBody>
          <a:bodyPr wrap="square">
            <a:spAutoFit/>
          </a:bodyPr>
          <a:lstStyle/>
          <a:p>
            <a:pPr algn="l">
              <a:defRPr sz="1300">
                <a:solidFill>
                  <a:srgbClr val="DCDCDC"/>
                </a:solidFill>
                <a:latin typeface="Consolas"/>
              </a:defRPr>
            </a:pPr>
            <a:r>
              <a:t>// THE PROBLEM: Virtual + Template = Illegal</a:t>
            </a:r>
          </a:p>
          <a:p>
            <a:pPr algn="l">
              <a:defRPr sz="1300">
                <a:solidFill>
                  <a:srgbClr val="DCDCDC"/>
                </a:solidFill>
                <a:latin typeface="Consolas"/>
              </a:defRPr>
            </a:pPr>
            <a:r>
              <a:t>struct IShape {</a:t>
            </a:r>
          </a:p>
          <a:p>
            <a:pPr algn="l">
              <a:defRPr sz="1300">
                <a:solidFill>
                  <a:srgbClr val="DCDCDC"/>
                </a:solidFill>
                <a:latin typeface="Consolas"/>
              </a:defRPr>
            </a:pPr>
            <a:r>
              <a:t>    template&lt;class T&gt; virtual T Get() = 0; // compiler error</a:t>
            </a:r>
          </a:p>
          <a:p>
            <a:pPr algn="l">
              <a:defRPr sz="1300">
                <a:solidFill>
                  <a:srgbClr val="DCDCDC"/>
                </a:solidFill>
                <a:latin typeface="Consolas"/>
              </a:defRPr>
            </a:pPr>
            <a:r>
              <a:t>};</a:t>
            </a:r>
          </a:p>
          <a:p>
            <a:pPr algn="l">
              <a:defRPr sz="1300">
                <a:solidFill>
                  <a:srgbClr val="DCDCDC"/>
                </a:solidFill>
                <a:latin typeface="Consolas"/>
              </a:defRPr>
            </a:pPr>
          </a:p>
          <a:p>
            <a:pPr algn="l">
              <a:defRPr sz="1300">
                <a:solidFill>
                  <a:srgbClr val="DCDCDC"/>
                </a:solidFill>
                <a:latin typeface="Consolas"/>
              </a:defRPr>
            </a:pPr>
            <a:r>
              <a:t>// THE BREAK: Split concerns</a:t>
            </a:r>
          </a:p>
          <a:p>
            <a:pPr algn="l">
              <a:defRPr sz="1300">
                <a:solidFill>
                  <a:srgbClr val="DCDCDC"/>
                </a:solidFill>
                <a:latin typeface="Consolas"/>
              </a:defRPr>
            </a:pPr>
            <a:r>
              <a:t>struct Concept {</a:t>
            </a:r>
          </a:p>
          <a:p>
            <a:pPr algn="l">
              <a:defRPr sz="1300">
                <a:solidFill>
                  <a:srgbClr val="DCDCDC"/>
                </a:solidFill>
                <a:latin typeface="Consolas"/>
              </a:defRPr>
            </a:pPr>
            <a:r>
              <a:t>    virtual ModelTypeID GetID() const = 0; // Identity</a:t>
            </a:r>
          </a:p>
          <a:p>
            <a:pPr algn="l">
              <a:defRPr sz="1300">
                <a:solidFill>
                  <a:srgbClr val="DCDCDC"/>
                </a:solidFill>
                <a:latin typeface="Consolas"/>
              </a:defRPr>
            </a:pPr>
            <a:r>
              <a:t>};</a:t>
            </a:r>
          </a:p>
          <a:p>
            <a:pPr algn="l">
              <a:defRPr sz="1300">
                <a:solidFill>
                  <a:srgbClr val="DCDCDC"/>
                </a:solidFill>
                <a:latin typeface="Consolas"/>
              </a:defRPr>
            </a:pPr>
            <a:r>
              <a:t>template&lt;class T&gt;</a:t>
            </a:r>
          </a:p>
          <a:p>
            <a:pPr algn="l">
              <a:defRPr sz="1300">
                <a:solidFill>
                  <a:srgbClr val="DCDCDC"/>
                </a:solidFill>
                <a:latin typeface="Consolas"/>
              </a:defRPr>
            </a:pPr>
            <a:r>
              <a:t>const T&amp; Get() const { ... } // Template Data Recovery</a:t>
            </a:r>
          </a:p>
        </p:txBody>
      </p:sp>
      <p:pic>
        <p:nvPicPr>
          <p:cNvPr id="4" name="Picture 3" descr="image.jpg"/>
          <p:cNvPicPr>
            <a:picLocks noChangeAspect="1"/>
          </p:cNvPicPr>
          <p:nvPr/>
        </p:nvPicPr>
        <p:blipFill>
          <a:blip r:embed="rId2"/>
          <a:stretch>
            <a:fillRect/>
          </a:stretch>
        </p:blipFill>
        <p:spPr>
          <a:xfrm>
            <a:off x="6583680" y="1645920"/>
            <a:ext cx="5029200" cy="110253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Title 1"/>
          <p:cNvSpPr>
            <a:spLocks noGrp="1"/>
          </p:cNvSpPr>
          <p:nvPr>
            <p:ph type="title"/>
          </p:nvPr>
        </p:nvSpPr>
        <p:spPr/>
        <p:txBody>
          <a:bodyPr/>
          <a:lstStyle/>
          <a:p>
            <a:pPr>
              <a:defRPr sz="3600">
                <a:solidFill>
                  <a:srgbClr val="6496FF"/>
                </a:solidFill>
              </a:defRPr>
            </a:pPr>
            <a:r>
              <a:t>06 - IDENTITY DECOUPLING (The Capability Binding)</a:t>
            </a:r>
          </a:p>
        </p:txBody>
      </p:sp>
      <p:sp>
        <p:nvSpPr>
          <p:cNvPr id="3" name="TextBox 2"/>
          <p:cNvSpPr txBox="1"/>
          <p:nvPr/>
        </p:nvSpPr>
        <p:spPr>
          <a:xfrm>
            <a:off x="457200" y="1371600"/>
            <a:ext cx="5943600" cy="5029200"/>
          </a:xfrm>
          <a:prstGeom prst="rect">
            <a:avLst/>
          </a:prstGeom>
          <a:solidFill>
            <a:srgbClr val="1E1E1E"/>
          </a:solidFill>
        </p:spPr>
        <p:txBody>
          <a:bodyPr wrap="square">
            <a:spAutoFit/>
          </a:bodyPr>
          <a:lstStyle/>
          <a:p>
            <a:pPr algn="l">
              <a:defRPr sz="1300">
                <a:solidFill>
                  <a:srgbClr val="DCDCDC"/>
                </a:solidFill>
                <a:latin typeface="Consolas"/>
              </a:defRPr>
            </a:pPr>
            <a:r>
              <a:t>// DATA: scout.h (Pure state)</a:t>
            </a:r>
          </a:p>
          <a:p>
            <a:pPr algn="l">
              <a:defRPr sz="1300">
                <a:solidFill>
                  <a:srgbClr val="DCDCDC"/>
                </a:solidFill>
                <a:latin typeface="Consolas"/>
              </a:defRPr>
            </a:pPr>
            <a:r>
              <a:t>struct Scout { string callsign; int health; };</a:t>
            </a:r>
          </a:p>
          <a:p>
            <a:pPr algn="l">
              <a:defRPr sz="1300">
                <a:solidFill>
                  <a:srgbClr val="DCDCDC"/>
                </a:solidFill>
                <a:latin typeface="Consolas"/>
              </a:defRPr>
            </a:pPr>
          </a:p>
          <a:p>
            <a:pPr algn="l">
              <a:defRPr sz="1300">
                <a:solidFill>
                  <a:srgbClr val="DCDCDC"/>
                </a:solidFill>
                <a:latin typeface="Consolas"/>
              </a:defRPr>
            </a:pPr>
            <a:r>
              <a:t>// LOGIC: diag.cpp (Pure logic)</a:t>
            </a:r>
          </a:p>
          <a:p>
            <a:pPr algn="l">
              <a:defRPr sz="1300">
                <a:solidFill>
                  <a:srgbClr val="DCDCDC"/>
                </a:solidFill>
                <a:latin typeface="Consolas"/>
              </a:defRPr>
            </a:pPr>
            <a:r>
              <a:t>struct Diagnostic : IDiagnostic {</a:t>
            </a:r>
          </a:p>
          <a:p>
            <a:pPr algn="l">
              <a:defRPr sz="1300">
                <a:solidFill>
                  <a:srgbClr val="DCDCDC"/>
                </a:solidFill>
                <a:latin typeface="Consolas"/>
              </a:defRPr>
            </a:pPr>
            <a:r>
              <a:t>    void Execute(const ModelShell&amp; shell) const { ... }</a:t>
            </a:r>
          </a:p>
          <a:p>
            <a:pPr algn="l">
              <a:defRPr sz="1300">
                <a:solidFill>
                  <a:srgbClr val="DCDCDC"/>
                </a:solidFill>
                <a:latin typeface="Consolas"/>
              </a:defRPr>
            </a:pPr>
            <a:r>
              <a:t>};</a:t>
            </a:r>
          </a:p>
          <a:p>
            <a:pPr algn="l">
              <a:defRPr sz="1300">
                <a:solidFill>
                  <a:srgbClr val="DCDCDC"/>
                </a:solidFill>
                <a:latin typeface="Consolas"/>
              </a:defRPr>
            </a:pPr>
          </a:p>
          <a:p>
            <a:pPr algn="l">
              <a:defRPr sz="1300">
                <a:solidFill>
                  <a:srgbClr val="DCDCDC"/>
                </a:solidFill>
                <a:latin typeface="Consolas"/>
              </a:defRPr>
            </a:pPr>
            <a:r>
              <a:t>// BINDING: wire.cpp (The wire)</a:t>
            </a:r>
          </a:p>
          <a:p>
            <a:pPr algn="l">
              <a:defRPr sz="1300">
                <a:solidFill>
                  <a:srgbClr val="DCDCDC"/>
                </a:solidFill>
                <a:latin typeface="Consolas"/>
              </a:defRPr>
            </a:pPr>
            <a:r>
              <a:t>static const CapabilityBinding&lt;Scout, Diagnostic&gt; g_ScoutDiag;</a:t>
            </a:r>
          </a:p>
        </p:txBody>
      </p:sp>
      <p:pic>
        <p:nvPicPr>
          <p:cNvPr id="4" name="Picture 3" descr="image.jpg"/>
          <p:cNvPicPr>
            <a:picLocks noChangeAspect="1"/>
          </p:cNvPicPr>
          <p:nvPr/>
        </p:nvPicPr>
        <p:blipFill>
          <a:blip r:embed="rId2"/>
          <a:stretch>
            <a:fillRect/>
          </a:stretch>
        </p:blipFill>
        <p:spPr>
          <a:xfrm>
            <a:off x="6583680" y="1645920"/>
            <a:ext cx="5029200" cy="141598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Title 1"/>
          <p:cNvSpPr>
            <a:spLocks noGrp="1"/>
          </p:cNvSpPr>
          <p:nvPr>
            <p:ph type="title"/>
          </p:nvPr>
        </p:nvSpPr>
        <p:spPr/>
        <p:txBody>
          <a:bodyPr/>
          <a:lstStyle/>
          <a:p>
            <a:pPr>
              <a:defRPr sz="3600">
                <a:solidFill>
                  <a:srgbClr val="6496FF"/>
                </a:solidFill>
              </a:defRPr>
            </a:pPr>
            <a:r>
              <a:t>07 - THE OOP ILLUSION (Invoke / TryInvoke)</a:t>
            </a:r>
          </a:p>
        </p:txBody>
      </p:sp>
      <p:sp>
        <p:nvSpPr>
          <p:cNvPr id="3" name="TextBox 2"/>
          <p:cNvSpPr txBox="1"/>
          <p:nvPr/>
        </p:nvSpPr>
        <p:spPr>
          <a:xfrm>
            <a:off x="457200" y="1371600"/>
            <a:ext cx="5943600" cy="5029200"/>
          </a:xfrm>
          <a:prstGeom prst="rect">
            <a:avLst/>
          </a:prstGeom>
          <a:solidFill>
            <a:srgbClr val="1E1E1E"/>
          </a:solidFill>
        </p:spPr>
        <p:txBody>
          <a:bodyPr wrap="square">
            <a:spAutoFit/>
          </a:bodyPr>
          <a:lstStyle/>
          <a:p>
            <a:pPr algn="l">
              <a:defRPr sz="1300">
                <a:solidFill>
                  <a:srgbClr val="DCDCDC"/>
                </a:solidFill>
                <a:latin typeface="Consolas"/>
              </a:defRPr>
            </a:pPr>
            <a:r>
              <a:t>// Cold Path: Clean OOP syntax</a:t>
            </a:r>
          </a:p>
          <a:p>
            <a:pPr algn="l">
              <a:defRPr sz="1300">
                <a:solidFill>
                  <a:srgbClr val="DCDCDC"/>
                </a:solidFill>
                <a:latin typeface="Consolas"/>
              </a:defRPr>
            </a:pPr>
            <a:r>
              <a:t>shell.Invoke&lt;&amp;IMovement::Move&gt;(ctx);</a:t>
            </a:r>
          </a:p>
          <a:p>
            <a:pPr algn="l">
              <a:defRPr sz="1300">
                <a:solidFill>
                  <a:srgbClr val="DCDCDC"/>
                </a:solidFill>
                <a:latin typeface="Consolas"/>
              </a:defRPr>
            </a:pPr>
          </a:p>
          <a:p>
            <a:pPr algn="l">
              <a:defRPr sz="1300">
                <a:solidFill>
                  <a:srgbClr val="DCDCDC"/>
                </a:solidFill>
                <a:latin typeface="Consolas"/>
              </a:defRPr>
            </a:pPr>
            <a:r>
              <a:t>// Analyzed at compile-time:</a:t>
            </a:r>
          </a:p>
          <a:p>
            <a:pPr algn="l">
              <a:defRPr sz="1300">
                <a:solidFill>
                  <a:srgbClr val="DCDCDC"/>
                </a:solidFill>
                <a:latin typeface="Consolas"/>
              </a:defRPr>
            </a:pPr>
            <a:r>
              <a:t>// 1. Extracts Interface (IMovement)</a:t>
            </a:r>
          </a:p>
          <a:p>
            <a:pPr algn="l">
              <a:defRPr sz="1300">
                <a:solidFill>
                  <a:srgbClr val="DCDCDC"/>
                </a:solidFill>
                <a:latin typeface="Consolas"/>
              </a:defRPr>
            </a:pPr>
            <a:r>
              <a:t>// 2. Validates signature</a:t>
            </a:r>
          </a:p>
          <a:p>
            <a:pPr algn="l">
              <a:defRPr sz="1300">
                <a:solidFill>
                  <a:srgbClr val="DCDCDC"/>
                </a:solidFill>
                <a:latin typeface="Consolas"/>
              </a:defRPr>
            </a:pPr>
            <a:r>
              <a:t>// 3. One virtual jump + O(1) tensor</a:t>
            </a:r>
          </a:p>
          <a:p>
            <a:pPr algn="l">
              <a:defRPr sz="1300">
                <a:solidFill>
                  <a:srgbClr val="DCDCDC"/>
                </a:solidFill>
                <a:latin typeface="Consolas"/>
              </a:defRPr>
            </a:pPr>
            <a:r>
              <a:t>// 4. Direct call</a:t>
            </a:r>
          </a:p>
        </p:txBody>
      </p:sp>
      <p:pic>
        <p:nvPicPr>
          <p:cNvPr id="4" name="Picture 3" descr="image.jpg"/>
          <p:cNvPicPr>
            <a:picLocks noChangeAspect="1"/>
          </p:cNvPicPr>
          <p:nvPr/>
        </p:nvPicPr>
        <p:blipFill>
          <a:blip r:embed="rId2"/>
          <a:stretch>
            <a:fillRect/>
          </a:stretch>
        </p:blipFill>
        <p:spPr>
          <a:xfrm>
            <a:off x="6583680" y="1645920"/>
            <a:ext cx="5029200" cy="206493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Title 1"/>
          <p:cNvSpPr>
            <a:spLocks noGrp="1"/>
          </p:cNvSpPr>
          <p:nvPr>
            <p:ph type="title"/>
          </p:nvPr>
        </p:nvSpPr>
        <p:spPr/>
        <p:txBody>
          <a:bodyPr/>
          <a:lstStyle/>
          <a:p>
            <a:pPr>
              <a:defRPr sz="3600">
                <a:solidFill>
                  <a:srgbClr val="6496FF"/>
                </a:solidFill>
              </a:defRPr>
            </a:pPr>
            <a:r>
              <a:t>08 - THE BAKER (One Line, N Models)</a:t>
            </a:r>
          </a:p>
        </p:txBody>
      </p:sp>
      <p:sp>
        <p:nvSpPr>
          <p:cNvPr id="3" name="TextBox 2"/>
          <p:cNvSpPr txBox="1"/>
          <p:nvPr/>
        </p:nvSpPr>
        <p:spPr>
          <a:xfrm>
            <a:off x="457200" y="1371600"/>
            <a:ext cx="5943600" cy="5029200"/>
          </a:xfrm>
          <a:prstGeom prst="rect">
            <a:avLst/>
          </a:prstGeom>
          <a:solidFill>
            <a:srgbClr val="1E1E1E"/>
          </a:solidFill>
        </p:spPr>
        <p:txBody>
          <a:bodyPr wrap="square">
            <a:spAutoFit/>
          </a:bodyPr>
          <a:lstStyle/>
          <a:p>
            <a:pPr algn="l">
              <a:defRPr sz="1300">
                <a:solidFill>
                  <a:srgbClr val="DCDCDC"/>
                </a:solidFill>
                <a:latin typeface="Consolas"/>
              </a:defRPr>
            </a:pPr>
            <a:r>
              <a:t>using AirModels = TypeList&lt;Scout, Drone, Heavy&gt;;</a:t>
            </a:r>
          </a:p>
          <a:p>
            <a:pPr algn="l">
              <a:defRPr sz="1300">
                <a:solidFill>
                  <a:srgbClr val="DCDCDC"/>
                </a:solidFill>
                <a:latin typeface="Consolas"/>
              </a:defRPr>
            </a:pPr>
          </a:p>
          <a:p>
            <a:pPr algn="l">
              <a:defRPr sz="1300">
                <a:solidFill>
                  <a:srgbClr val="DCDCDC"/>
                </a:solidFill>
                <a:latin typeface="Consolas"/>
              </a:defRPr>
            </a:pPr>
            <a:r>
              <a:t>// One line. All models. All capabilities.</a:t>
            </a:r>
          </a:p>
          <a:p>
            <a:pPr algn="l">
              <a:defRPr sz="1300">
                <a:solidFill>
                  <a:srgbClr val="DCDCDC"/>
                </a:solidFill>
                <a:latin typeface="Consolas"/>
              </a:defRPr>
            </a:pPr>
            <a:r>
              <a:t>static const CapabilityBaker&lt;AirModels, Diag, Tele&gt; g_AirBaker;</a:t>
            </a:r>
          </a:p>
        </p:txBody>
      </p:sp>
      <p:pic>
        <p:nvPicPr>
          <p:cNvPr id="4" name="Picture 3" descr="image.jpg"/>
          <p:cNvPicPr>
            <a:picLocks noChangeAspect="1"/>
          </p:cNvPicPr>
          <p:nvPr/>
        </p:nvPicPr>
        <p:blipFill>
          <a:blip r:embed="rId2"/>
          <a:stretch>
            <a:fillRect/>
          </a:stretch>
        </p:blipFill>
        <p:spPr>
          <a:xfrm>
            <a:off x="6583680" y="1645920"/>
            <a:ext cx="5029200" cy="2452838"/>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Title 1"/>
          <p:cNvSpPr>
            <a:spLocks noGrp="1"/>
          </p:cNvSpPr>
          <p:nvPr>
            <p:ph type="title"/>
          </p:nvPr>
        </p:nvSpPr>
        <p:spPr/>
        <p:txBody>
          <a:bodyPr/>
          <a:lstStyle/>
          <a:p>
            <a:pPr>
              <a:defRPr sz="3600">
                <a:solidFill>
                  <a:srgbClr val="6496FF"/>
                </a:solidFill>
              </a:defRPr>
            </a:pPr>
            <a:r>
              <a:t>09 - THE PRICE OF FREEDOM (O(N) Search)</a:t>
            </a:r>
          </a:p>
        </p:txBody>
      </p:sp>
      <p:sp>
        <p:nvSpPr>
          <p:cNvPr id="3" name="TextBox 2"/>
          <p:cNvSpPr txBox="1"/>
          <p:nvPr/>
        </p:nvSpPr>
        <p:spPr>
          <a:xfrm>
            <a:off x="457200" y="1371600"/>
            <a:ext cx="5943600" cy="5029200"/>
          </a:xfrm>
          <a:prstGeom prst="rect">
            <a:avLst/>
          </a:prstGeom>
          <a:solidFill>
            <a:srgbClr val="1E1E1E"/>
          </a:solidFill>
        </p:spPr>
        <p:txBody>
          <a:bodyPr wrap="square">
            <a:spAutoFit/>
          </a:bodyPr>
          <a:lstStyle/>
          <a:p>
            <a:pPr algn="l">
              <a:defRPr sz="1300">
                <a:solidFill>
                  <a:srgbClr val="DCDCDC"/>
                </a:solidFill>
                <a:latin typeface="Consolas"/>
              </a:defRPr>
            </a:pPr>
            <a:r>
              <a:t>// Current Find() bottleneck:</a:t>
            </a:r>
          </a:p>
          <a:p>
            <a:pPr algn="l">
              <a:defRPr sz="1300">
                <a:solidFill>
                  <a:srgbClr val="DCDCDC"/>
                </a:solidFill>
                <a:latin typeface="Consolas"/>
              </a:defRPr>
            </a:pPr>
            <a:r>
              <a:t>for (const auto* node : RouterSlot::s_Value) {</a:t>
            </a:r>
          </a:p>
          <a:p>
            <a:pPr algn="l">
              <a:defRPr sz="1300">
                <a:solidFill>
                  <a:srgbClr val="DCDCDC"/>
                </a:solidFill>
                <a:latin typeface="Consolas"/>
              </a:defRPr>
            </a:pPr>
            <a:r>
              <a:t>    if (node-&gt;GetID() == modelID) // comparison</a:t>
            </a:r>
          </a:p>
          <a:p>
            <a:pPr algn="l">
              <a:defRPr sz="1300">
                <a:solidFill>
                  <a:srgbClr val="DCDCDC"/>
                </a:solidFill>
                <a:latin typeface="Consolas"/>
              </a:defRPr>
            </a:pPr>
            <a:r>
              <a:t>        return node-&gt;Resolve(iid);</a:t>
            </a:r>
          </a:p>
          <a:p>
            <a:pPr algn="l">
              <a:defRPr sz="1300">
                <a:solidFill>
                  <a:srgbClr val="DCDCDC"/>
                </a:solidFill>
                <a:latin typeface="Consolas"/>
              </a:defRPr>
            </a:pPr>
            <a:r>
              <a:t>}</a:t>
            </a:r>
          </a:p>
        </p:txBody>
      </p:sp>
      <p:pic>
        <p:nvPicPr>
          <p:cNvPr id="4" name="Picture 3" descr="image.jpg"/>
          <p:cNvPicPr>
            <a:picLocks noChangeAspect="1"/>
          </p:cNvPicPr>
          <p:nvPr/>
        </p:nvPicPr>
        <p:blipFill>
          <a:blip r:embed="rId2"/>
          <a:stretch>
            <a:fillRect/>
          </a:stretch>
        </p:blipFill>
        <p:spPr>
          <a:xfrm>
            <a:off x="6583680" y="1645920"/>
            <a:ext cx="5029200" cy="66549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Title 1"/>
          <p:cNvSpPr>
            <a:spLocks noGrp="1"/>
          </p:cNvSpPr>
          <p:nvPr>
            <p:ph type="title"/>
          </p:nvPr>
        </p:nvSpPr>
        <p:spPr/>
        <p:txBody>
          <a:bodyPr/>
          <a:lstStyle/>
          <a:p>
            <a:pPr>
              <a:defRPr sz="3600">
                <a:solidFill>
                  <a:srgbClr val="6496FF"/>
                </a:solidFill>
              </a:defRPr>
            </a:pPr>
            <a:r>
              <a:t>10 - THE ID EXPLOSION (The Sparse Universe)</a:t>
            </a:r>
          </a:p>
        </p:txBody>
      </p:sp>
      <p:sp>
        <p:nvSpPr>
          <p:cNvPr id="3" name="TextBox 2"/>
          <p:cNvSpPr txBox="1"/>
          <p:nvPr/>
        </p:nvSpPr>
        <p:spPr>
          <a:xfrm>
            <a:off x="457200" y="1371600"/>
            <a:ext cx="5943600" cy="5029200"/>
          </a:xfrm>
          <a:prstGeom prst="rect">
            <a:avLst/>
          </a:prstGeom>
          <a:solidFill>
            <a:srgbClr val="1E1E1E"/>
          </a:solidFill>
        </p:spPr>
        <p:txBody>
          <a:bodyPr wrap="square">
            <a:spAutoFit/>
          </a:bodyPr>
          <a:lstStyle/>
          <a:p>
            <a:pPr algn="l">
              <a:defRPr sz="1300">
                <a:solidFill>
                  <a:srgbClr val="DCDCDC"/>
                </a:solidFill>
                <a:latin typeface="Consolas"/>
              </a:defRPr>
            </a:pPr>
            <a:r>
              <a:t>// typeid().hash_code() is sparse (0 to 4B)</a:t>
            </a:r>
          </a:p>
          <a:p>
            <a:pPr algn="l">
              <a:defRPr sz="1300">
                <a:solidFill>
                  <a:srgbClr val="DCDCDC"/>
                </a:solidFill>
                <a:latin typeface="Consolas"/>
              </a:defRPr>
            </a:pPr>
            <a:r>
              <a:t>// Scout -&gt; 0x4A1F...</a:t>
            </a:r>
          </a:p>
          <a:p>
            <a:pPr algn="l">
              <a:defRPr sz="1300">
                <a:solidFill>
                  <a:srgbClr val="DCDCDC"/>
                </a:solidFill>
                <a:latin typeface="Consolas"/>
              </a:defRPr>
            </a:pPr>
            <a:r>
              <a:t>// Drone -&gt; 0x9B3D...</a:t>
            </a:r>
          </a:p>
          <a:p>
            <a:pPr algn="l">
              <a:defRPr sz="1300">
                <a:solidFill>
                  <a:srgbClr val="DCDCDC"/>
                </a:solidFill>
                <a:latin typeface="Consolas"/>
              </a:defRPr>
            </a:pPr>
          </a:p>
          <a:p>
            <a:pPr algn="l">
              <a:defRPr sz="1300">
                <a:solidFill>
                  <a:srgbClr val="DCDCDC"/>
                </a:solidFill>
                <a:latin typeface="Consolas"/>
              </a:defRPr>
            </a:pPr>
            <a:r>
              <a:t>// THE COLLAPSE: DenseTypeID</a:t>
            </a:r>
          </a:p>
          <a:p>
            <a:pPr algn="l">
              <a:defRPr sz="1300">
                <a:solidFill>
                  <a:srgbClr val="DCDCDC"/>
                </a:solidFill>
                <a:latin typeface="Consolas"/>
              </a:defRPr>
            </a:pPr>
            <a:r>
              <a:t>template&lt;class T&gt;</a:t>
            </a:r>
          </a:p>
          <a:p>
            <a:pPr algn="l">
              <a:defRPr sz="1300">
                <a:solidFill>
                  <a:srgbClr val="DCDCDC"/>
                </a:solidFill>
                <a:latin typeface="Consolas"/>
              </a:defRPr>
            </a:pPr>
            <a:r>
              <a:t>struct DenseTypeID {</a:t>
            </a:r>
          </a:p>
          <a:p>
            <a:pPr algn="l">
              <a:defRPr sz="1300">
                <a:solidFill>
                  <a:srgbClr val="DCDCDC"/>
                </a:solidFill>
                <a:latin typeface="Consolas"/>
              </a:defRPr>
            </a:pPr>
            <a:r>
              <a:t>    static DenseID Get() {</a:t>
            </a:r>
          </a:p>
          <a:p>
            <a:pPr algn="l">
              <a:defRPr sz="1300">
                <a:solidFill>
                  <a:srgbClr val="DCDCDC"/>
                </a:solidFill>
                <a:latin typeface="Consolas"/>
              </a:defRPr>
            </a:pPr>
            <a:r>
              <a:t>        static DenseID s_id = Counter++; // 0, 1, 2...</a:t>
            </a:r>
          </a:p>
          <a:p>
            <a:pPr algn="l">
              <a:defRPr sz="1300">
                <a:solidFill>
                  <a:srgbClr val="DCDCDC"/>
                </a:solidFill>
                <a:latin typeface="Consolas"/>
              </a:defRPr>
            </a:pPr>
            <a:r>
              <a:t>        return s_id;</a:t>
            </a:r>
          </a:p>
          <a:p>
            <a:pPr algn="l">
              <a:defRPr sz="1300">
                <a:solidFill>
                  <a:srgbClr val="DCDCDC"/>
                </a:solidFill>
                <a:latin typeface="Consolas"/>
              </a:defRPr>
            </a:pPr>
            <a:r>
              <a:t>    }</a:t>
            </a:r>
          </a:p>
          <a:p>
            <a:pPr algn="l">
              <a:defRPr sz="1300">
                <a:solidFill>
                  <a:srgbClr val="DCDCDC"/>
                </a:solidFill>
                <a:latin typeface="Consolas"/>
              </a:defRPr>
            </a:pPr>
            <a:r>
              <a:t>};</a:t>
            </a:r>
          </a:p>
        </p:txBody>
      </p:sp>
      <p:pic>
        <p:nvPicPr>
          <p:cNvPr id="4" name="Picture 3" descr="image.jpg"/>
          <p:cNvPicPr>
            <a:picLocks noChangeAspect="1"/>
          </p:cNvPicPr>
          <p:nvPr/>
        </p:nvPicPr>
        <p:blipFill>
          <a:blip r:embed="rId2"/>
          <a:stretch>
            <a:fillRect/>
          </a:stretch>
        </p:blipFill>
        <p:spPr>
          <a:xfrm>
            <a:off x="6583680" y="1645920"/>
            <a:ext cx="5029200" cy="4219414"/>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Title 1"/>
          <p:cNvSpPr>
            <a:spLocks noGrp="1"/>
          </p:cNvSpPr>
          <p:nvPr>
            <p:ph type="title"/>
          </p:nvPr>
        </p:nvSpPr>
        <p:spPr/>
        <p:txBody>
          <a:bodyPr/>
          <a:lstStyle/>
          <a:p>
            <a:pPr>
              <a:defRPr sz="3600">
                <a:solidFill>
                  <a:srgbClr val="6496FF"/>
                </a:solidFill>
              </a:defRPr>
            </a:pPr>
            <a:r>
              <a:t>11 - THE DENSE INDEXER (Collapse in Action)</a:t>
            </a:r>
          </a:p>
        </p:txBody>
      </p:sp>
      <p:sp>
        <p:nvSpPr>
          <p:cNvPr id="3" name="TextBox 2"/>
          <p:cNvSpPr txBox="1"/>
          <p:nvPr/>
        </p:nvSpPr>
        <p:spPr>
          <a:xfrm>
            <a:off x="457200" y="1371600"/>
            <a:ext cx="5943600" cy="5029200"/>
          </a:xfrm>
          <a:prstGeom prst="rect">
            <a:avLst/>
          </a:prstGeom>
          <a:solidFill>
            <a:srgbClr val="1E1E1E"/>
          </a:solidFill>
        </p:spPr>
        <p:txBody>
          <a:bodyPr wrap="square">
            <a:spAutoFit/>
          </a:bodyPr>
          <a:lstStyle/>
          <a:p>
            <a:pPr algn="l">
              <a:defRPr sz="1300">
                <a:solidFill>
                  <a:srgbClr val="DCDCDC"/>
                </a:solidFill>
                <a:latin typeface="Consolas"/>
              </a:defRPr>
            </a:pPr>
            <a:r>
              <a:t>// THE FLAT TENSOR: Rows = DenseID, Columns = Offset</a:t>
            </a:r>
          </a:p>
          <a:p>
            <a:pPr algn="l">
              <a:defRPr sz="1300">
                <a:solidFill>
                  <a:srgbClr val="DCDCDC"/>
                </a:solidFill>
                <a:latin typeface="Consolas"/>
              </a:defRPr>
            </a:pPr>
            <a:r>
              <a:t>static vector&lt;vector&lt;RouteNode*&gt;&gt; s_Tensor;</a:t>
            </a:r>
          </a:p>
          <a:p>
            <a:pPr algn="l">
              <a:defRPr sz="1300">
                <a:solidFill>
                  <a:srgbClr val="DCDCDC"/>
                </a:solidFill>
                <a:latin typeface="Consolas"/>
              </a:defRPr>
            </a:pPr>
          </a:p>
          <a:p>
            <a:pPr algn="l">
              <a:defRPr sz="1300">
                <a:solidFill>
                  <a:srgbClr val="DCDCDC"/>
                </a:solidFill>
                <a:latin typeface="Consolas"/>
              </a:defRPr>
            </a:pPr>
            <a:r>
              <a:t>// Lookup: two array accesses</a:t>
            </a:r>
          </a:p>
          <a:p>
            <a:pPr algn="l">
              <a:defRPr sz="1300">
                <a:solidFill>
                  <a:srgbClr val="DCDCDC"/>
                </a:solidFill>
                <a:latin typeface="Consolas"/>
              </a:defRPr>
            </a:pPr>
            <a:r>
              <a:t>return s_Tensor[denseID][offset];</a:t>
            </a:r>
          </a:p>
        </p:txBody>
      </p:sp>
      <p:pic>
        <p:nvPicPr>
          <p:cNvPr id="4" name="Picture 3" descr="image.jpg"/>
          <p:cNvPicPr>
            <a:picLocks noChangeAspect="1"/>
          </p:cNvPicPr>
          <p:nvPr/>
        </p:nvPicPr>
        <p:blipFill>
          <a:blip r:embed="rId2"/>
          <a:stretch>
            <a:fillRect/>
          </a:stretch>
        </p:blipFill>
        <p:spPr>
          <a:xfrm>
            <a:off x="6583680" y="1645920"/>
            <a:ext cx="5029200" cy="1770717"/>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Title 1"/>
          <p:cNvSpPr>
            <a:spLocks noGrp="1"/>
          </p:cNvSpPr>
          <p:nvPr>
            <p:ph type="title"/>
          </p:nvPr>
        </p:nvSpPr>
        <p:spPr/>
        <p:txBody>
          <a:bodyPr/>
          <a:lstStyle/>
          <a:p>
            <a:pPr>
              <a:defRPr sz="3600">
                <a:solidFill>
                  <a:srgbClr val="6496FF"/>
                </a:solidFill>
              </a:defRPr>
            </a:pPr>
            <a:r>
              <a:t>12 - THE HYPERCUBE (N-Dimensional Space)</a:t>
            </a:r>
          </a:p>
        </p:txBody>
      </p:sp>
      <p:sp>
        <p:nvSpPr>
          <p:cNvPr id="3" name="TextBox 2"/>
          <p:cNvSpPr txBox="1"/>
          <p:nvPr/>
        </p:nvSpPr>
        <p:spPr>
          <a:xfrm>
            <a:off x="457200" y="1371600"/>
            <a:ext cx="5943600" cy="5029200"/>
          </a:xfrm>
          <a:prstGeom prst="rect">
            <a:avLst/>
          </a:prstGeom>
          <a:solidFill>
            <a:srgbClr val="1E1E1E"/>
          </a:solidFill>
        </p:spPr>
        <p:txBody>
          <a:bodyPr wrap="square">
            <a:spAutoFit/>
          </a:bodyPr>
          <a:lstStyle/>
          <a:p>
            <a:pPr algn="l">
              <a:defRPr sz="1300">
                <a:solidFill>
                  <a:srgbClr val="DCDCDC"/>
                </a:solidFill>
                <a:latin typeface="Consolas"/>
              </a:defRPr>
            </a:pPr>
            <a:r>
              <a:t>// Horner's Method: Resolve N-dims into 1 offset</a:t>
            </a:r>
          </a:p>
          <a:p>
            <a:pPr algn="l">
              <a:defRPr sz="1300">
                <a:solidFill>
                  <a:srgbClr val="DCDCDC"/>
                </a:solidFill>
                <a:latin typeface="Consolas"/>
              </a:defRPr>
            </a:pPr>
            <a:r>
              <a:t>// offset = (State * Zone_count) + Zone</a:t>
            </a:r>
          </a:p>
          <a:p>
            <a:pPr algn="l">
              <a:defRPr sz="1300">
                <a:solidFill>
                  <a:srgbClr val="DCDCDC"/>
                </a:solidFill>
                <a:latin typeface="Consolas"/>
              </a:defRPr>
            </a:pPr>
            <a:r>
              <a:t>template&lt;class... TAxes&gt;</a:t>
            </a:r>
          </a:p>
          <a:p>
            <a:pPr algn="l">
              <a:defRPr sz="1300">
                <a:solidFill>
                  <a:srgbClr val="DCDCDC"/>
                </a:solidFill>
                <a:latin typeface="Consolas"/>
              </a:defRPr>
            </a:pPr>
            <a:r>
              <a:t>struct Space {</a:t>
            </a:r>
          </a:p>
          <a:p>
            <a:pPr algn="l">
              <a:defRPr sz="1300">
                <a:solidFill>
                  <a:srgbClr val="DCDCDC"/>
                </a:solidFill>
                <a:latin typeface="Consolas"/>
              </a:defRPr>
            </a:pPr>
            <a:r>
              <a:t>    static constexpr size_t Volume = (EnumTraits&lt;TAxes&gt;::Count * ...);</a:t>
            </a:r>
          </a:p>
          <a:p>
            <a:pPr algn="l">
              <a:defRPr sz="1300">
                <a:solidFill>
                  <a:srgbClr val="DCDCDC"/>
                </a:solidFill>
                <a:latin typeface="Consolas"/>
              </a:defRPr>
            </a:pPr>
            <a:r>
              <a:t>    static size_t ComputeOffset(Args... args) { ... }</a:t>
            </a:r>
          </a:p>
          <a:p>
            <a:pPr algn="l">
              <a:defRPr sz="1300">
                <a:solidFill>
                  <a:srgbClr val="DCDCDC"/>
                </a:solidFill>
                <a:latin typeface="Consolas"/>
              </a:defRPr>
            </a:pPr>
            <a:r>
              <a:t>};</a:t>
            </a:r>
          </a:p>
        </p:txBody>
      </p:sp>
      <p:pic>
        <p:nvPicPr>
          <p:cNvPr id="4" name="Picture 3" descr="image.jpg"/>
          <p:cNvPicPr>
            <a:picLocks noChangeAspect="1"/>
          </p:cNvPicPr>
          <p:nvPr/>
        </p:nvPicPr>
        <p:blipFill>
          <a:blip r:embed="rId2"/>
          <a:stretch>
            <a:fillRect/>
          </a:stretch>
        </p:blipFill>
        <p:spPr>
          <a:xfrm>
            <a:off x="6583680" y="1645920"/>
            <a:ext cx="5029200" cy="43032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Title 1"/>
          <p:cNvSpPr>
            <a:spLocks noGrp="1"/>
          </p:cNvSpPr>
          <p:nvPr>
            <p:ph type="title"/>
          </p:nvPr>
        </p:nvSpPr>
        <p:spPr/>
        <p:txBody>
          <a:bodyPr/>
          <a:lstStyle/>
          <a:p>
            <a:pPr>
              <a:defRPr sz="3600">
                <a:solidFill>
                  <a:srgbClr val="6496FF"/>
                </a:solidFill>
              </a:defRPr>
            </a:pPr>
            <a:r>
              <a:t>13 - THE CRG CURE (Immutable Topology)</a:t>
            </a:r>
          </a:p>
        </p:txBody>
      </p:sp>
      <p:sp>
        <p:nvSpPr>
          <p:cNvPr id="3" name="TextBox 2"/>
          <p:cNvSpPr txBox="1"/>
          <p:nvPr/>
        </p:nvSpPr>
        <p:spPr>
          <a:xfrm>
            <a:off x="457200" y="1371600"/>
            <a:ext cx="5943600" cy="5029200"/>
          </a:xfrm>
          <a:prstGeom prst="rect">
            <a:avLst/>
          </a:prstGeom>
          <a:solidFill>
            <a:srgbClr val="1E1E1E"/>
          </a:solidFill>
        </p:spPr>
        <p:txBody>
          <a:bodyPr wrap="square">
            <a:spAutoFit/>
          </a:bodyPr>
          <a:lstStyle/>
          <a:p>
            <a:pPr algn="l">
              <a:defRPr sz="1300">
                <a:solidFill>
                  <a:srgbClr val="DCDCDC"/>
                </a:solidFill>
                <a:latin typeface="Consolas"/>
              </a:defRPr>
            </a:pPr>
            <a:r>
              <a:t>// MUTABLE: Behavior change = structural rewire</a:t>
            </a:r>
          </a:p>
          <a:p>
            <a:pPr algn="l">
              <a:defRPr sz="1300">
                <a:solidFill>
                  <a:srgbClr val="DCDCDC"/>
                </a:solidFill>
                <a:latin typeface="Consolas"/>
              </a:defRPr>
            </a:pPr>
            <a:r>
              <a:t>behaviors.remove(entity, patrol); // prefetcher loses stream</a:t>
            </a:r>
          </a:p>
          <a:p>
            <a:pPr algn="l">
              <a:defRPr sz="1300">
                <a:solidFill>
                  <a:srgbClr val="DCDCDC"/>
                </a:solidFill>
                <a:latin typeface="Consolas"/>
              </a:defRPr>
            </a:pPr>
          </a:p>
          <a:p>
            <a:pPr algn="l">
              <a:defRPr sz="1300">
                <a:solidFill>
                  <a:srgbClr val="DCDCDC"/>
                </a:solidFill>
                <a:latin typeface="Consolas"/>
              </a:defRPr>
            </a:pPr>
            <a:r>
              <a:t>// CRG: Behavior change = coordinate update</a:t>
            </a:r>
          </a:p>
          <a:p>
            <a:pPr algn="l">
              <a:defRPr sz="1300">
                <a:solidFill>
                  <a:srgbClr val="DCDCDC"/>
                </a:solidFill>
                <a:latin typeface="Consolas"/>
              </a:defRPr>
            </a:pPr>
            <a:r>
              <a:t>world_state = State::Combat; // matrix: unchanged.</a:t>
            </a:r>
          </a:p>
        </p:txBody>
      </p:sp>
      <p:pic>
        <p:nvPicPr>
          <p:cNvPr id="4" name="Picture 3" descr="image.jpg"/>
          <p:cNvPicPr>
            <a:picLocks noChangeAspect="1"/>
          </p:cNvPicPr>
          <p:nvPr/>
        </p:nvPicPr>
        <p:blipFill>
          <a:blip r:embed="rId2"/>
          <a:stretch>
            <a:fillRect/>
          </a:stretch>
        </p:blipFill>
        <p:spPr>
          <a:xfrm>
            <a:off x="6583680" y="1645920"/>
            <a:ext cx="5029200" cy="12879659"/>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Title 1"/>
          <p:cNvSpPr>
            <a:spLocks noGrp="1"/>
          </p:cNvSpPr>
          <p:nvPr>
            <p:ph type="title"/>
          </p:nvPr>
        </p:nvSpPr>
        <p:spPr/>
        <p:txBody>
          <a:bodyPr/>
          <a:lstStyle/>
          <a:p>
            <a:pPr>
              <a:defRPr sz="3600">
                <a:solidFill>
                  <a:srgbClr val="6496FF"/>
                </a:solidFill>
              </a:defRPr>
            </a:pPr>
            <a:r>
              <a:t>14 - ECS SYMBIOSIS (The Brain &amp; The Muscle)</a:t>
            </a:r>
          </a:p>
        </p:txBody>
      </p:sp>
      <p:sp>
        <p:nvSpPr>
          <p:cNvPr id="3" name="TextBox 2"/>
          <p:cNvSpPr txBox="1"/>
          <p:nvPr/>
        </p:nvSpPr>
        <p:spPr>
          <a:xfrm>
            <a:off x="457200" y="1371600"/>
            <a:ext cx="5943600" cy="5029200"/>
          </a:xfrm>
          <a:prstGeom prst="rect">
            <a:avLst/>
          </a:prstGeom>
          <a:solidFill>
            <a:srgbClr val="1E1E1E"/>
          </a:solidFill>
        </p:spPr>
        <p:txBody>
          <a:bodyPr wrap="square">
            <a:spAutoFit/>
          </a:bodyPr>
          <a:lstStyle/>
          <a:p>
            <a:pPr algn="l">
              <a:defRPr sz="1300">
                <a:solidFill>
                  <a:srgbClr val="DCDCDC"/>
                </a:solidFill>
                <a:latin typeface="Consolas"/>
              </a:defRPr>
            </a:pPr>
            <a:r>
              <a:t>// THE BRAIN (5 Hz): Decision</a:t>
            </a:r>
          </a:p>
          <a:p>
            <a:pPr algn="l">
              <a:defRPr sz="1300">
                <a:solidFill>
                  <a:srgbClr val="DCDCDC"/>
                </a:solidFill>
                <a:latin typeface="Consolas"/>
              </a:defRPr>
            </a:pPr>
            <a:r>
              <a:t>cap = Router::Find&lt;Energy&gt;(handle, state, zone);</a:t>
            </a:r>
          </a:p>
          <a:p>
            <a:pPr algn="l">
              <a:defRPr sz="1300">
                <a:solidFill>
                  <a:srgbClr val="DCDCDC"/>
                </a:solidFill>
                <a:latin typeface="Consolas"/>
              </a:defRPr>
            </a:pPr>
          </a:p>
          <a:p>
            <a:pPr algn="l">
              <a:defRPr sz="1300">
                <a:solidFill>
                  <a:srgbClr val="DCDCDC"/>
                </a:solidFill>
                <a:latin typeface="Consolas"/>
              </a:defRPr>
            </a:pPr>
            <a:r>
              <a:t>// THE MUSCLE (60 Hz): Execution</a:t>
            </a:r>
          </a:p>
          <a:p>
            <a:pPr algn="l">
              <a:defRPr sz="1300">
                <a:solidFill>
                  <a:srgbClr val="DCDCDC"/>
                </a:solidFill>
                <a:latin typeface="Consolas"/>
              </a:defRPr>
            </a:pPr>
            <a:r>
              <a:t>for (auto&amp; [battery, cap] : ecs.View&lt;ActiveCapability&gt;()) {</a:t>
            </a:r>
          </a:p>
          <a:p>
            <a:pPr algn="l">
              <a:defRPr sz="1300">
                <a:solidFill>
                  <a:srgbClr val="DCDCDC"/>
                </a:solidFill>
                <a:latin typeface="Consolas"/>
              </a:defRPr>
            </a:pPr>
            <a:r>
              <a:t>    cap(params); // Direct static call</a:t>
            </a:r>
          </a:p>
          <a:p>
            <a:pPr algn="l">
              <a:defRPr sz="1300">
                <a:solidFill>
                  <a:srgbClr val="DCDCDC"/>
                </a:solidFill>
                <a:latin typeface="Consolas"/>
              </a:defRPr>
            </a:pPr>
            <a:r>
              <a:t>}</a:t>
            </a:r>
          </a:p>
        </p:txBody>
      </p:sp>
      <p:pic>
        <p:nvPicPr>
          <p:cNvPr id="4" name="Picture 3" descr="image.jpg"/>
          <p:cNvPicPr>
            <a:picLocks noChangeAspect="1"/>
          </p:cNvPicPr>
          <p:nvPr/>
        </p:nvPicPr>
        <p:blipFill>
          <a:blip r:embed="rId2"/>
          <a:stretch>
            <a:fillRect/>
          </a:stretch>
        </p:blipFill>
        <p:spPr>
          <a:xfrm>
            <a:off x="6583680" y="1645920"/>
            <a:ext cx="5029200" cy="2076764"/>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Title 1"/>
          <p:cNvSpPr>
            <a:spLocks noGrp="1"/>
          </p:cNvSpPr>
          <p:nvPr>
            <p:ph type="title"/>
          </p:nvPr>
        </p:nvSpPr>
        <p:spPr/>
        <p:txBody>
          <a:bodyPr/>
          <a:lstStyle/>
          <a:p>
            <a:pPr>
              <a:defRPr sz="3600">
                <a:solidFill>
                  <a:srgbClr val="6496FF"/>
                </a:solidFill>
              </a:defRPr>
            </a:pPr>
            <a:r>
              <a:t>15 - THREE LEVELS (The Performance Ladder)</a:t>
            </a:r>
          </a:p>
        </p:txBody>
      </p:sp>
      <p:sp>
        <p:nvSpPr>
          <p:cNvPr id="3" name="TextBox 2"/>
          <p:cNvSpPr txBox="1"/>
          <p:nvPr/>
        </p:nvSpPr>
        <p:spPr>
          <a:xfrm>
            <a:off x="457200" y="1371600"/>
            <a:ext cx="5943600" cy="5029200"/>
          </a:xfrm>
          <a:prstGeom prst="rect">
            <a:avLst/>
          </a:prstGeom>
          <a:solidFill>
            <a:srgbClr val="1E1E1E"/>
          </a:solidFill>
        </p:spPr>
        <p:txBody>
          <a:bodyPr wrap="square">
            <a:spAutoFit/>
          </a:bodyPr>
          <a:lstStyle/>
          <a:p>
            <a:pPr algn="l">
              <a:defRPr sz="1300">
                <a:solidFill>
                  <a:srgbClr val="DCDCDC"/>
                </a:solidFill>
                <a:latin typeface="Consolas"/>
              </a:defRPr>
            </a:pPr>
            <a:r>
              <a:t>// Level 1: Classic OOP vtable       -&gt; ~20.0 ns</a:t>
            </a:r>
          </a:p>
          <a:p>
            <a:pPr algn="l">
              <a:defRPr sz="1300">
                <a:solidFill>
                  <a:srgbClr val="DCDCDC"/>
                </a:solidFill>
                <a:latin typeface="Consolas"/>
              </a:defRPr>
            </a:pPr>
            <a:r>
              <a:t>entity.GetBehavior()-&gt;Update();</a:t>
            </a:r>
          </a:p>
          <a:p>
            <a:pPr algn="l">
              <a:defRPr sz="1300">
                <a:solidFill>
                  <a:srgbClr val="DCDCDC"/>
                </a:solidFill>
                <a:latin typeface="Consolas"/>
              </a:defRPr>
            </a:pPr>
          </a:p>
          <a:p>
            <a:pPr algn="l">
              <a:defRPr sz="1300">
                <a:solidFill>
                  <a:srgbClr val="DCDCDC"/>
                </a:solidFill>
                <a:latin typeface="Consolas"/>
              </a:defRPr>
            </a:pPr>
            <a:r>
              <a:t>// Level 2: CRG Shell (Cold Path)    -&gt;  ~7.0 ns</a:t>
            </a:r>
          </a:p>
          <a:p>
            <a:pPr algn="l">
              <a:defRPr sz="1300">
                <a:solidFill>
                  <a:srgbClr val="DCDCDC"/>
                </a:solidFill>
                <a:latin typeface="Consolas"/>
              </a:defRPr>
            </a:pPr>
            <a:r>
              <a:t>shell.Invoke&lt;&amp;IMovement::Move&gt;();</a:t>
            </a:r>
          </a:p>
          <a:p>
            <a:pPr algn="l">
              <a:defRPr sz="1300">
                <a:solidFill>
                  <a:srgbClr val="DCDCDC"/>
                </a:solidFill>
                <a:latin typeface="Consolas"/>
              </a:defRPr>
            </a:pPr>
          </a:p>
          <a:p>
            <a:pPr algn="l">
              <a:defRPr sz="1300">
                <a:solidFill>
                  <a:srgbClr val="DCDCDC"/>
                </a:solidFill>
                <a:latin typeface="Consolas"/>
              </a:defRPr>
            </a:pPr>
            <a:r>
              <a:t>// Level 3: ActiveCapability (DOD)   -&gt;  ~1.5 ns</a:t>
            </a:r>
          </a:p>
          <a:p>
            <a:pPr algn="l">
              <a:defRPr sz="1300">
                <a:solidFill>
                  <a:srgbClr val="DCDCDC"/>
                </a:solidFill>
                <a:latin typeface="Consolas"/>
              </a:defRPr>
            </a:pPr>
            <a:r>
              <a:t>cap(params); // Zero virtual. Direct ptr.</a:t>
            </a:r>
          </a:p>
        </p:txBody>
      </p:sp>
      <p:pic>
        <p:nvPicPr>
          <p:cNvPr id="4" name="Picture 3" descr="image.jpg"/>
          <p:cNvPicPr>
            <a:picLocks noChangeAspect="1"/>
          </p:cNvPicPr>
          <p:nvPr/>
        </p:nvPicPr>
        <p:blipFill>
          <a:blip r:embed="rId2"/>
          <a:stretch>
            <a:fillRect/>
          </a:stretch>
        </p:blipFill>
        <p:spPr>
          <a:xfrm>
            <a:off x="6583680" y="1645920"/>
            <a:ext cx="5029200" cy="7097044"/>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Title 1"/>
          <p:cNvSpPr>
            <a:spLocks noGrp="1"/>
          </p:cNvSpPr>
          <p:nvPr>
            <p:ph type="title"/>
          </p:nvPr>
        </p:nvSpPr>
        <p:spPr/>
        <p:txBody>
          <a:bodyPr/>
          <a:lstStyle/>
          <a:p>
            <a:pPr>
              <a:defRPr sz="3600">
                <a:solidFill>
                  <a:srgbClr val="6496FF"/>
                </a:solidFill>
              </a:defRPr>
            </a:pPr>
            <a:r>
              <a:t>16 - REACHING THE SILICON LIMIT (Benchmarks)</a:t>
            </a:r>
          </a:p>
        </p:txBody>
      </p:sp>
      <p:sp>
        <p:nvSpPr>
          <p:cNvPr id="3" name="TextBox 2"/>
          <p:cNvSpPr txBox="1"/>
          <p:nvPr/>
        </p:nvSpPr>
        <p:spPr>
          <a:xfrm>
            <a:off x="457200" y="1371600"/>
            <a:ext cx="5943600" cy="5029200"/>
          </a:xfrm>
          <a:prstGeom prst="rect">
            <a:avLst/>
          </a:prstGeom>
          <a:solidFill>
            <a:srgbClr val="1E1E1E"/>
          </a:solidFill>
        </p:spPr>
        <p:txBody>
          <a:bodyPr wrap="square">
            <a:spAutoFit/>
          </a:bodyPr>
          <a:lstStyle/>
          <a:p>
            <a:pPr algn="l">
              <a:defRPr sz="1300">
                <a:solidFill>
                  <a:srgbClr val="DCDCDC"/>
                </a:solidFill>
                <a:latin typeface="Consolas"/>
              </a:defRPr>
            </a:pPr>
            <a:r>
              <a:t>// Throughput at Scale (1M entities)</a:t>
            </a:r>
          </a:p>
          <a:p>
            <a:pPr algn="l">
              <a:defRPr sz="1300">
                <a:solidFill>
                  <a:srgbClr val="DCDCDC"/>
                </a:solidFill>
                <a:latin typeface="Consolas"/>
              </a:defRPr>
            </a:pPr>
            <a:r>
              <a:t>// Classic ECS: 19.26 Gi/s</a:t>
            </a:r>
          </a:p>
          <a:p>
            <a:pPr algn="l">
              <a:defRPr sz="1300">
                <a:solidFill>
                  <a:srgbClr val="DCDCDC"/>
                </a:solidFill>
                <a:latin typeface="Consolas"/>
              </a:defRPr>
            </a:pPr>
            <a:r>
              <a:t>// CRG Projection: 30.83 Gi/s</a:t>
            </a:r>
          </a:p>
        </p:txBody>
      </p:sp>
      <p:pic>
        <p:nvPicPr>
          <p:cNvPr id="4" name="Picture 3" descr="image.jpg"/>
          <p:cNvPicPr>
            <a:picLocks noChangeAspect="1"/>
          </p:cNvPicPr>
          <p:nvPr/>
        </p:nvPicPr>
        <p:blipFill>
          <a:blip r:embed="rId2"/>
          <a:stretch>
            <a:fillRect/>
          </a:stretch>
        </p:blipFill>
        <p:spPr>
          <a:xfrm>
            <a:off x="6583680" y="1645920"/>
            <a:ext cx="5029200" cy="1663652"/>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0F0F"/>
        </a:solidFill>
        <a:effectLst/>
      </p:bgPr>
    </p:bg>
    <p:spTree>
      <p:nvGrpSpPr>
        <p:cNvPr id="1" name=""/>
        <p:cNvGrpSpPr/>
        <p:nvPr/>
      </p:nvGrpSpPr>
      <p:grpSpPr/>
      <p:sp>
        <p:nvSpPr>
          <p:cNvPr id="2" name="Title 1"/>
          <p:cNvSpPr>
            <a:spLocks noGrp="1"/>
          </p:cNvSpPr>
          <p:nvPr>
            <p:ph type="title"/>
          </p:nvPr>
        </p:nvSpPr>
        <p:spPr/>
        <p:txBody>
          <a:bodyPr/>
          <a:lstStyle/>
          <a:p>
            <a:pPr>
              <a:defRPr sz="3600">
                <a:solidFill>
                  <a:srgbClr val="6496FF"/>
                </a:solidFill>
              </a:defRPr>
            </a:pPr>
            <a:r>
              <a:t>17 - CONCLUSION</a:t>
            </a:r>
          </a:p>
        </p:txBody>
      </p:sp>
      <p:sp>
        <p:nvSpPr>
          <p:cNvPr id="3" name="TextBox 2"/>
          <p:cNvSpPr txBox="1"/>
          <p:nvPr/>
        </p:nvSpPr>
        <p:spPr>
          <a:xfrm>
            <a:off x="457200" y="1371600"/>
            <a:ext cx="5943600" cy="5029200"/>
          </a:xfrm>
          <a:prstGeom prst="rect">
            <a:avLst/>
          </a:prstGeom>
          <a:solidFill>
            <a:srgbClr val="1E1E1E"/>
          </a:solidFill>
        </p:spPr>
        <p:txBody>
          <a:bodyPr wrap="square">
            <a:spAutoFit/>
          </a:bodyPr>
          <a:lstStyle/>
          <a:p>
            <a:pPr algn="l">
              <a:defRPr sz="1300">
                <a:solidFill>
                  <a:srgbClr val="DCDCDC"/>
                </a:solidFill>
                <a:latin typeface="Consolas"/>
              </a:defRPr>
            </a:pPr>
            <a:r>
              <a:t>// 1. Zero Coupling  (Linker)</a:t>
            </a:r>
          </a:p>
          <a:p>
            <a:pPr algn="l">
              <a:defRPr sz="1300">
                <a:solidFill>
                  <a:srgbClr val="DCDCDC"/>
                </a:solidFill>
                <a:latin typeface="Consolas"/>
              </a:defRPr>
            </a:pPr>
            <a:r>
              <a:t>// 2. Zero Search    (Math)</a:t>
            </a:r>
          </a:p>
          <a:p>
            <a:pPr algn="l">
              <a:defRPr sz="1300">
                <a:solidFill>
                  <a:srgbClr val="DCDCDC"/>
                </a:solidFill>
                <a:latin typeface="Consolas"/>
              </a:defRPr>
            </a:pPr>
            <a:r>
              <a:t>// 3. Zero Migration (Hardware)</a:t>
            </a:r>
          </a:p>
          <a:p>
            <a:pPr algn="l">
              <a:defRPr sz="1300">
                <a:solidFill>
                  <a:srgbClr val="DCDCDC"/>
                </a:solidFill>
                <a:latin typeface="Consolas"/>
              </a:defRPr>
            </a:pPr>
          </a:p>
          <a:p>
            <a:pPr algn="l">
              <a:defRPr sz="1300">
                <a:solidFill>
                  <a:srgbClr val="DCDCDC"/>
                </a:solidFill>
                <a:latin typeface="Consolas"/>
              </a:defRPr>
            </a:pPr>
            <a:r>
              <a:t>// CRG is what happens when you </a:t>
            </a:r>
          </a:p>
          <a:p>
            <a:pPr algn="l">
              <a:defRPr sz="1300">
                <a:solidFill>
                  <a:srgbClr val="DCDCDC"/>
                </a:solidFill>
                <a:latin typeface="Consolas"/>
              </a:defRPr>
            </a:pPr>
            <a:r>
              <a:t>// stop fighting C++.</a:t>
            </a:r>
          </a:p>
        </p:txBody>
      </p:sp>
      <p:pic>
        <p:nvPicPr>
          <p:cNvPr id="4" name="Picture 3" descr="image.jpg"/>
          <p:cNvPicPr>
            <a:picLocks noChangeAspect="1"/>
          </p:cNvPicPr>
          <p:nvPr/>
        </p:nvPicPr>
        <p:blipFill>
          <a:blip r:embed="rId2"/>
          <a:stretch>
            <a:fillRect/>
          </a:stretch>
        </p:blipFill>
        <p:spPr>
          <a:xfrm>
            <a:off x="6583680" y="1645920"/>
            <a:ext cx="5029200" cy="865384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