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vous regardez le silicium d'un processeur moderne, le cache de niveau 1 est physiquement divisé en deux : le cache de données (L1D) et le cache d'instructions (L1I). Le matériel lui-même exige une séparation stricte entre l'état et le comportement pour atteindre son efficacité maximale. Pourtant, pendant des décennies, nous les avons forcés ensemble dans nos objets. Le CRG est la réponse. On arrête de se battre contre le matériel. On traite la donnée et la logique comme deux dimensions parallèles — en miroir du silicium lui-même.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Vous touchez un header. Un seul bool. Vous lancez le build. Vous allez chercher un café. Vous revenez. Ça compile encore. Vous allez déjeuner. Ça finit pendant que vous mangez. 38 minutes. Pour un bool. C'est l'Include Hell. Et voilà le truc — ça ne ressemble pas à un problème de performance. Ça ressemble à un problème de moral. Un problème de communication. 'Qui a encore touché ConfigManager.h ?' Mais ce n'est pas ça. C'est un problème d'architecture. Tout est couplé au moment de la compilation. Le CRG résout ce problème. L'objectif de l'Acte I est simple : comment faire en sorte que les comportements se découvrent mutuellement au moment du link, sans aucun header partagé ?</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production, vous n'avez jamais un seul binaire. Vous avez le core, une DLL réseau, une DLL outils, une DLL robotique — et chacune doit pouvoir enregistrer ses capabilities sans que le core ait à la connaître. L'approche naïve, c'est le static inline partout. Mais en développement, on veut du hot-reload et des plugins. C'est là que le mode DLL entre en jeu. CRG_BIND_SLOT déplace la définition vers l'exécutable core — une spécialisation de template explicite que chaque DLL résout via le linker. L'API de découverte est identique : définissez une struct, instanciez-la en statique, et l'OS déclenche le constructeur au chargement. Aucun Init(), aucun registre central, aucun include du core. Vous déposez un fichier dans une DLL. Il s'enregistre lui-même. C'est tout.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L'initialisation statique nous a offert la découverte gratuite. Mais maintenant on est dans le hot path. Cent mille entités, chacune ayant besoin de trouver son comportement à chaque frame. Parcourir une liste chaînée, c'est sauter de pointeur en pointeur — chaque saut est un potentiel cache miss. Faites le calcul : quarante-huit millions de déréférencements par seconde. Le Bake résout ça. La première fois que Find() est appelé, un StaticGuard le déclenche automatiquement. La liste est aplatie en une matrice dense et contiguë. À partir de ce moment, la recherche devient un calcul. On a échangé la flexibilité de l'enregistrement dynamique contre la performance d'un layout statique.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seul rôle du shell était de transporter la donnée et de préserver l'identité à travers les frontières. J'ai donc gardé la coquille — le shell — et j'ai tout le reste jeté. Le Concept est minimal : une seule méthode virtuelle, GetID(). C'est tout. Pas d'Execute, pas de logique. La seule API publique est Get&lt;T&gt;() — un static_cast pour récupérer la donnée typée. Et ce cast n'existe qu'à l'intérieur du comportement enregistré pour ce type. Le shell traverse toutes les frontières de manière opaque. En production, il vit dans un buffer aligné sur la stack (SBO). Zéro allocation heap. Si vous avez besoin de vérifier : sizeof(ModelShell) tient dans une ligne de cache.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Vous voulez appeler une méthode templatisée sur une collection hétérogène derrière un pointeur. Vous écrivez donc une méthode virtuelle template sur l'interface. Le compilateur dit non. Virtuel et template sont mutuellement exclusifs en C++. Le ModelShell casse ce verrou en séparant les deux responsabilités. Le Concept expose une seule méthode virtuelle — GetID() — non-template, pour l'identité uniquement. Get&lt;T&gt;() vit sur le shell lui-même, non-virtuel, en tant que template. Un seul saut virtuel pour identifier le type, un static_cast direct pour récupérer la donnée. Le verrou est cassé.</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Maintenant on a les trois pièces. La donnée vit dans scout.h — état pur, aucune dépendance. La logique vit dans DiagnosticCapability. Et le binding est un simple statique qui relie les deux. Ces trois fichiers ne s'incluent jamais mutuellement. Le Gateway effectue le routage au runtime à travers la matrice baked. Vous pouvez ajouter une capability pour Scout en déposant un nouveau .cpp sans toucher au reste. C'est ce qui tue le Build Wall. Donnée, Logique et Binding sont trois dimensions orthogonales. On les compose au moment du link, pas à la compilation.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pointeur de méthode que vous passez est analysé par ModelShellMethodTraits à la compilation. Il en extrait l'interface — vous ne la nommez jamais explicitement. Invoke assume le succès. TryInvoke est la version défensive : si le shell est invalide ou l'interface non trouvée, il retourne un Optional vide. La première règle : Invoke et TryInvoke sont votre API pour le cold path. Outils, UI, requêtes de debug. Le moment où vous mettez Invoke dans une boucle sur dix mille entités, vous payez un appel virtuel par itération. Ce n'est pas l'usage prévu.</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L'enregistrement manuel ne passe pas à l'échelle. Ajoutez un modèle : deux lignes de plus. Ajoutez une capability : trois lignes de plus. Le Baker résout ça. DiagCapability devient un template sur TModel. Ensuite, une seule ligne CapabilityBaker expand la TypeList. Trois modèles, deux capabilities : un seul statique, six entrées dans la matrice. Et la décentralisation est préservée. Ajoutez un modèle à la TypeList ? Chaque capability se propage. Ajoutez une capability ? Chaque modèle en bénéficie. La matrice se construit seule.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Baker est élégant. Mais regardons ce que Find() fait réellement. Il itère sur les nœuds de modèles enregistrés, compare les IDs, résout l'interface. C'est O(N) sur le nombre de modèles enregistrés. Pour trois cents modèles à cent mille entités par frame — c'est un goulot d'étranglement. L'objectif c'est ça : un calcul, zéro recherche. Donné un modelID et un contexte, calculer un offset mémoire et sauter directement. Mais il y a un problème. Notre modelID est un hash — une valeur size_t aléatoire. Ça ne peut pas servir d'index de tableau.</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Nos ModelTypeIDs viennent de typeid().hash_code(). Scout hash à un virgule deux milliards. Ce sont des valeurs size_t arbitraires éparpillées sur un spectre de quatre milliards de slots. Si j'essaie de les utiliser comme index, ma table a besoin de seize gigaoctets juste pour des pointeurs. Le seul chemin vers un accès direct O(1) est de réduire cet espace épars en entiers consécutifs. Zéro, un, deux, trois. C'est DenseTypeID. Chaque type obtient un local statique qui incrémente un compteur global une seule fois. Maintenant s_CapabilityTensor[0] c'est la capability de Scout. Un accès tableau. Une instruction.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DenseTypeID est d'une simplicité désarmante. Le standard C++11 garantit que c'est thread-safe. Pas de mutex, zéro cérémonie. Maintenant on peut construire le CapabilityTensor. L'index extérieur c'est le DenseID, l'index intérieur c'est l'offset de contexte. Le lookup c'est deux accès tableau. Pas de boucle, pas de comparaison, pas de collision. C'est le moment où la recherche disparaît. Trouver une capability n'est plus une question de 'où est-elle ?' — c'est une question de 'quel est l'offset ?' Et ça, c'est du pur calcul.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comportement ne dépend pas seulement de ce qu'est l'entité. Il dépend de où elle est, quand elle est, qui la contrôle. State. Zone. Authority. Ce sont vos axes de contexte. Space encode les axes à la compilation. ComputeOffset utilise la méthode de Horner — une boucle d'accumulation, pas de branches, pas de divisions. Un seul nombre. Maintenant le lookup c'est deux nombres. Deux accès tableau. Le CPU calcule les deux dans le même cycle. Et le plus beau ? Chaque axe que vous ajoutez multiplie le Volume — mais le coût du lookup reste absolument identique. Une dimension ou dix, ce sont toujours les mêmes deux accès tableau. La complexité est gratuite.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L'Acte II nous a donné un tenseur. Une matrice plate et contiguë de pointeurs de comportements, indexée par le modèle et le contexte. Construite une fois, jamais retouchée. Cette immutabilité n'est pas un accident — c'est la garantie centrale. Dans une topologie mutable, chaque changement de comportement est une opération structurelle. On ajoute, on retire, on recâble. Le layout mémoire change. Le prefetcher avait fait une prédiction. Maintenant, elle est fausse. Vous payez une pénalité de cache à chaque transition — pas pour une raison logique, mais purement structurelle. Avec le CRG, la matrice ne change jamais. Une transition de comportement n'est qu'une mise à jour de coordonnées. world_state bascule en Combat. Au lookup suivant, le tenseur renvoie un pointeur différent. La matrice n'a pas bougé. Les adresses mémoire n'ont pas changé. Le prefetcher a gardé son flux. L'immutabilité n'est pas une contrainte. C'est une garantie de performance. Et c'est ce qui nous permet d'atteindre la limite matérielle.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C'est ici qu'on parle de symbiose, pas de remplacement. L'ECS possède le pipeline de données : les entités sont des structures pures packées dans des tableaux contigus. Le prefetcher est ravi. Le CRG possède la projection logique : il sait quel comportement appliquer selon le contexte (état, zone, etc.). Le passage de témoin se fait via le composant ActiveCapability. Le système "Cerveau" tourne à 5Hz. Il appelle le Router pour un lookup O(1) et cache le résultat. Le système "Muscle" tourne à 60Hz. Il itère sur les tableaux et appelle directement le pointeur. Pas de virtuel, pas de recherche. La partie coûteuse est rare, la partie gratuite est constante. On n'est plus limité par la logique, mais par la RAM.</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TODO</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TODO</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0.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jp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2.jp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jp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4.jp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jp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6.jp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7.jp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8.jpg"/><Relationship Id="rId3"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0F0F"/>
        </a:solidFill>
        <a:effectLst/>
      </p:bgPr>
    </p:bg>
    <p:spTree>
      <p:nvGrpSpPr>
        <p:cNvPr id="1" name=""/>
        <p:cNvGrpSpPr/>
        <p:nvPr/>
      </p:nvGrpSpPr>
      <p:grpSpPr/>
      <p:sp>
        <p:nvSpPr>
          <p:cNvPr id="2" name="Title 1"/>
          <p:cNvSpPr>
            <a:spLocks noGrp="1"/>
          </p:cNvSpPr>
          <p:nvPr>
            <p:ph type="title"/>
          </p:nvPr>
        </p:nvSpPr>
        <p:spPr/>
        <p:txBody>
          <a:bodyPr/>
          <a:lstStyle/>
          <a:p>
            <a:pPr>
              <a:defRPr sz="3600">
                <a:solidFill>
                  <a:srgbClr val="6496FF"/>
                </a:solidFill>
              </a:defRPr>
            </a:pPr>
            <a:r>
              <a:t>00 - THE HOOK (Hardware-Software Symmetry)</a:t>
            </a:r>
          </a:p>
        </p:txBody>
      </p:sp>
      <p:sp>
        <p:nvSpPr>
          <p:cNvPr id="3" name="TextBox 2"/>
          <p:cNvSpPr txBox="1"/>
          <p:nvPr/>
        </p:nvSpPr>
        <p:spPr>
          <a:xfrm>
            <a:off x="457200" y="1371600"/>
            <a:ext cx="5943600" cy="5029200"/>
          </a:xfrm>
          <a:prstGeom prst="rect">
            <a:avLst/>
          </a:prstGeom>
          <a:solidFill>
            <a:srgbClr val="1E1E1E"/>
          </a:solidFill>
        </p:spPr>
        <p:txBody>
          <a:bodyPr wrap="square">
            <a:spAutoFit/>
          </a:bodyPr>
          <a:lstStyle/>
          <a:p>
            <a:pPr algn="l">
              <a:defRPr sz="1300">
                <a:solidFill>
                  <a:srgbClr val="DCDCDC"/>
                </a:solidFill>
                <a:latin typeface="Consolas"/>
              </a:defRPr>
            </a:pPr>
            <a:r>
              <a:t>// Hardware Reality: Physical Separation</a:t>
            </a:r>
          </a:p>
          <a:p>
            <a:pPr algn="l">
              <a:defRPr sz="1300">
                <a:solidFill>
                  <a:srgbClr val="DCDCDC"/>
                </a:solidFill>
                <a:latin typeface="Consolas"/>
              </a:defRPr>
            </a:pPr>
            <a:r>
              <a:t>// L1 Instruction Cache (L1I)  &lt;==&gt;  Stateless Behaviors</a:t>
            </a:r>
          </a:p>
          <a:p>
            <a:pPr algn="l">
              <a:defRPr sz="1300">
                <a:solidFill>
                  <a:srgbClr val="DCDCDC"/>
                </a:solidFill>
                <a:latin typeface="Consolas"/>
              </a:defRPr>
            </a:pPr>
            <a:r>
              <a:t>// L1 Data Cache (L1D)         &lt;==&gt;  Pure Data Models</a:t>
            </a:r>
          </a:p>
          <a:p>
            <a:pPr algn="l">
              <a:defRPr sz="1300">
                <a:solidFill>
                  <a:srgbClr val="DCDCDC"/>
                </a:solidFill>
                <a:latin typeface="Consolas"/>
              </a:defRPr>
            </a:pPr>
          </a:p>
          <a:p>
            <a:pPr algn="l">
              <a:defRPr sz="1300">
                <a:solidFill>
                  <a:srgbClr val="DCDCDC"/>
                </a:solidFill>
                <a:latin typeface="Consolas"/>
              </a:defRPr>
            </a:pPr>
            <a:r>
              <a:t>// The Software Conflict:</a:t>
            </a:r>
          </a:p>
          <a:p>
            <a:pPr algn="l">
              <a:defRPr sz="1300">
                <a:solidFill>
                  <a:srgbClr val="DCDCDC"/>
                </a:solidFill>
                <a:latin typeface="Consolas"/>
              </a:defRPr>
            </a:pPr>
            <a:r>
              <a:t>struct TraditionalObject {</a:t>
            </a:r>
          </a:p>
          <a:p>
            <a:pPr algn="l">
              <a:defRPr sz="1300">
                <a:solidFill>
                  <a:srgbClr val="DCDCDC"/>
                </a:solidFill>
                <a:latin typeface="Consolas"/>
              </a:defRPr>
            </a:pPr>
            <a:r>
              <a:t>    void Behavior(); // L1I</a:t>
            </a:r>
          </a:p>
          <a:p>
            <a:pPr algn="l">
              <a:defRPr sz="1300">
                <a:solidFill>
                  <a:srgbClr val="DCDCDC"/>
                </a:solidFill>
                <a:latin typeface="Consolas"/>
              </a:defRPr>
            </a:pPr>
            <a:r>
              <a:t>    float Data;      // L1D</a:t>
            </a:r>
          </a:p>
          <a:p>
            <a:pPr algn="l">
              <a:defRPr sz="1300">
                <a:solidFill>
                  <a:srgbClr val="DCDCDC"/>
                </a:solidFill>
                <a:latin typeface="Consolas"/>
              </a:defRPr>
            </a:pPr>
            <a:r>
              <a:t>}; // Forces coupling where hardware demands split.</a:t>
            </a:r>
          </a:p>
        </p:txBody>
      </p:sp>
      <p:pic>
        <p:nvPicPr>
          <p:cNvPr id="4" name="Picture 3" descr="image.jpg"/>
          <p:cNvPicPr>
            <a:picLocks noChangeAspect="1"/>
          </p:cNvPicPr>
          <p:nvPr/>
        </p:nvPicPr>
        <p:blipFill>
          <a:blip r:embed="rId2"/>
          <a:stretch>
            <a:fillRect/>
          </a:stretch>
        </p:blipFill>
        <p:spPr>
          <a:xfrm>
            <a:off x="6583680" y="1645920"/>
            <a:ext cx="5029200" cy="1511237"/>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0F0F"/>
        </a:solidFill>
        <a:effectLst/>
      </p:bgPr>
    </p:bg>
    <p:spTree>
      <p:nvGrpSpPr>
        <p:cNvPr id="1" name=""/>
        <p:cNvGrpSpPr/>
        <p:nvPr/>
      </p:nvGrpSpPr>
      <p:grpSpPr/>
      <p:sp>
        <p:nvSpPr>
          <p:cNvPr id="2" name="Title 1"/>
          <p:cNvSpPr>
            <a:spLocks noGrp="1"/>
          </p:cNvSpPr>
          <p:nvPr>
            <p:ph type="title"/>
          </p:nvPr>
        </p:nvSpPr>
        <p:spPr/>
        <p:txBody>
          <a:bodyPr/>
          <a:lstStyle/>
          <a:p>
            <a:pPr>
              <a:defRPr sz="3600">
                <a:solidFill>
                  <a:srgbClr val="6496FF"/>
                </a:solidFill>
              </a:defRPr>
            </a:pPr>
            <a:r>
              <a:t>01 - THE COST OF COUPLING (The Build Wall)</a:t>
            </a:r>
          </a:p>
        </p:txBody>
      </p:sp>
      <p:sp>
        <p:nvSpPr>
          <p:cNvPr id="3" name="TextBox 2"/>
          <p:cNvSpPr txBox="1"/>
          <p:nvPr/>
        </p:nvSpPr>
        <p:spPr>
          <a:xfrm>
            <a:off x="457200" y="1371600"/>
            <a:ext cx="5943600" cy="5029200"/>
          </a:xfrm>
          <a:prstGeom prst="rect">
            <a:avLst/>
          </a:prstGeom>
          <a:solidFill>
            <a:srgbClr val="1E1E1E"/>
          </a:solidFill>
        </p:spPr>
        <p:txBody>
          <a:bodyPr wrap="square">
            <a:spAutoFit/>
          </a:bodyPr>
          <a:lstStyle/>
          <a:p>
            <a:pPr algn="l">
              <a:defRPr sz="1300">
                <a:solidFill>
                  <a:srgbClr val="DCDCDC"/>
                </a:solidFill>
                <a:latin typeface="Consolas"/>
              </a:defRPr>
            </a:pPr>
            <a:r>
              <a:t>// You change this:</a:t>
            </a:r>
          </a:p>
          <a:p>
            <a:pPr algn="l">
              <a:defRPr sz="1300">
                <a:solidFill>
                  <a:srgbClr val="DCDCDC"/>
                </a:solidFill>
                <a:latin typeface="Consolas"/>
              </a:defRPr>
            </a:pPr>
            <a:r>
              <a:t>struct ConfigManager {</a:t>
            </a:r>
          </a:p>
          <a:p>
            <a:pPr algn="l">
              <a:defRPr sz="1300">
                <a:solidFill>
                  <a:srgbClr val="DCDCDC"/>
                </a:solidFill>
                <a:latin typeface="Consolas"/>
              </a:defRPr>
            </a:pPr>
            <a:r>
              <a:t>    bool b_EnableFeatureX = false; // ← one bool</a:t>
            </a:r>
          </a:p>
          <a:p>
            <a:pPr algn="l">
              <a:defRPr sz="1300">
                <a:solidFill>
                  <a:srgbClr val="DCDCDC"/>
                </a:solidFill>
                <a:latin typeface="Consolas"/>
              </a:defRPr>
            </a:pPr>
            <a:r>
              <a:t>};</a:t>
            </a:r>
          </a:p>
          <a:p>
            <a:pPr algn="l">
              <a:defRPr sz="1300">
                <a:solidFill>
                  <a:srgbClr val="DCDCDC"/>
                </a:solidFill>
                <a:latin typeface="Consolas"/>
              </a:defRPr>
            </a:pPr>
          </a:p>
          <a:p>
            <a:pPr algn="l">
              <a:defRPr sz="1300">
                <a:solidFill>
                  <a:srgbClr val="DCDCDC"/>
                </a:solidFill>
                <a:latin typeface="Consolas"/>
              </a:defRPr>
            </a:pPr>
            <a:r>
              <a:t>// The compiler punishes everyone:</a:t>
            </a:r>
          </a:p>
          <a:p>
            <a:pPr algn="l">
              <a:defRPr sz="1300">
                <a:solidFill>
                  <a:srgbClr val="DCDCDC"/>
                </a:solidFill>
                <a:latin typeface="Consolas"/>
              </a:defRPr>
            </a:pPr>
            <a:r>
              <a:t>// config_manager.h -&gt; service_layer.h -&gt; data_pipeline.h -&gt; ui_controller.h</a:t>
            </a:r>
          </a:p>
          <a:p>
            <a:pPr algn="l">
              <a:defRPr sz="1300">
                <a:solidFill>
                  <a:srgbClr val="DCDCDC"/>
                </a:solidFill>
                <a:latin typeface="Consolas"/>
              </a:defRPr>
            </a:pPr>
            <a:r>
              <a:t>// 217 files recompile. 38 minutes. Every programmer. Every day.</a:t>
            </a:r>
          </a:p>
        </p:txBody>
      </p:sp>
      <p:pic>
        <p:nvPicPr>
          <p:cNvPr id="4" name="Picture 3" descr="image.jpg"/>
          <p:cNvPicPr>
            <a:picLocks noChangeAspect="1"/>
          </p:cNvPicPr>
          <p:nvPr/>
        </p:nvPicPr>
        <p:blipFill>
          <a:blip r:embed="rId2"/>
          <a:stretch>
            <a:fillRect/>
          </a:stretch>
        </p:blipFill>
        <p:spPr>
          <a:xfrm>
            <a:off x="6583680" y="1645920"/>
            <a:ext cx="5029200" cy="12954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0F0F"/>
        </a:solidFill>
        <a:effectLst/>
      </p:bgPr>
    </p:bg>
    <p:spTree>
      <p:nvGrpSpPr>
        <p:cNvPr id="1" name=""/>
        <p:cNvGrpSpPr/>
        <p:nvPr/>
      </p:nvGrpSpPr>
      <p:grpSpPr/>
      <p:sp>
        <p:nvSpPr>
          <p:cNvPr id="2" name="Title 1"/>
          <p:cNvSpPr>
            <a:spLocks noGrp="1"/>
          </p:cNvSpPr>
          <p:nvPr>
            <p:ph type="title"/>
          </p:nvPr>
        </p:nvSpPr>
        <p:spPr/>
        <p:txBody>
          <a:bodyPr/>
          <a:lstStyle/>
          <a:p>
            <a:pPr>
              <a:defRPr sz="3600">
                <a:solidFill>
                  <a:srgbClr val="6496FF"/>
                </a:solidFill>
              </a:defRPr>
            </a:pPr>
            <a:r>
              <a:t>02 - THE INTRUSIVE BACKBONE (NodeList + RegistrySlot)</a:t>
            </a:r>
          </a:p>
        </p:txBody>
      </p:sp>
      <p:sp>
        <p:nvSpPr>
          <p:cNvPr id="3" name="TextBox 2"/>
          <p:cNvSpPr txBox="1"/>
          <p:nvPr/>
        </p:nvSpPr>
        <p:spPr>
          <a:xfrm>
            <a:off x="457200" y="1371600"/>
            <a:ext cx="5943600" cy="5029200"/>
          </a:xfrm>
          <a:prstGeom prst="rect">
            <a:avLst/>
          </a:prstGeom>
          <a:solidFill>
            <a:srgbClr val="1E1E1E"/>
          </a:solidFill>
        </p:spPr>
        <p:txBody>
          <a:bodyPr wrap="square">
            <a:spAutoFit/>
          </a:bodyPr>
          <a:lstStyle/>
          <a:p>
            <a:pPr algn="l">
              <a:defRPr sz="1300">
                <a:solidFill>
                  <a:srgbClr val="DCDCDC"/>
                </a:solidFill>
                <a:latin typeface="Consolas"/>
              </a:defRPr>
            </a:pPr>
            <a:r>
              <a:t>// RegistrySlot: Anchored definition in engine core</a:t>
            </a:r>
          </a:p>
          <a:p>
            <a:pPr algn="l">
              <a:defRPr sz="1300">
                <a:solidFill>
                  <a:srgbClr val="DCDCDC"/>
                </a:solidFill>
                <a:latin typeface="Consolas"/>
              </a:defRPr>
            </a:pPr>
            <a:r>
              <a:t>#define CRG_BIND_SLOT(T) template&lt;&gt; T RegistrySlot&lt;T&gt;::s_Value{};</a:t>
            </a:r>
          </a:p>
          <a:p>
            <a:pPr algn="l">
              <a:defRPr sz="1300">
                <a:solidFill>
                  <a:srgbClr val="DCDCDC"/>
                </a:solidFill>
                <a:latin typeface="Consolas"/>
              </a:defRPr>
            </a:pPr>
            <a:r>
              <a:t>CRG_BIND_SLOT(const BehaviorNode*)</a:t>
            </a:r>
          </a:p>
          <a:p>
            <a:pPr algn="l">
              <a:defRPr sz="1300">
                <a:solidFill>
                  <a:srgbClr val="DCDCDC"/>
                </a:solidFill>
                <a:latin typeface="Consolas"/>
              </a:defRPr>
            </a:pPr>
          </a:p>
          <a:p>
            <a:pPr algn="l">
              <a:defRPr sz="1300">
                <a:solidFill>
                  <a:srgbClr val="DCDCDC"/>
                </a:solidFill>
                <a:latin typeface="Consolas"/>
              </a:defRPr>
            </a:pPr>
            <a:r>
              <a:t>// MODULE A: Zero dependencies on core internals</a:t>
            </a:r>
          </a:p>
          <a:p>
            <a:pPr algn="l">
              <a:defRPr sz="1300">
                <a:solidFill>
                  <a:srgbClr val="DCDCDC"/>
                </a:solidFill>
                <a:latin typeface="Consolas"/>
              </a:defRPr>
            </a:pPr>
            <a:r>
              <a:t>struct DroneBehavior : NodeList&lt;BehaviorNode, IBehavior&gt; {</a:t>
            </a:r>
          </a:p>
          <a:p>
            <a:pPr algn="l">
              <a:defRPr sz="1300">
                <a:solidFill>
                  <a:srgbClr val="DCDCDC"/>
                </a:solidFill>
                <a:latin typeface="Consolas"/>
              </a:defRPr>
            </a:pPr>
            <a:r>
              <a:t>    void Execute() const override { /* ... */ }</a:t>
            </a:r>
          </a:p>
          <a:p>
            <a:pPr algn="l">
              <a:defRPr sz="1300">
                <a:solidFill>
                  <a:srgbClr val="DCDCDC"/>
                </a:solidFill>
                <a:latin typeface="Consolas"/>
              </a:defRPr>
            </a:pPr>
            <a:r>
              <a:t>};</a:t>
            </a:r>
          </a:p>
          <a:p>
            <a:pPr algn="l">
              <a:defRPr sz="1300">
                <a:solidFill>
                  <a:srgbClr val="DCDCDC"/>
                </a:solidFill>
                <a:latin typeface="Consolas"/>
              </a:defRPr>
            </a:pPr>
            <a:r>
              <a:t>static DroneBehavior g_drone; // OS loads DLL, constructor fires.</a:t>
            </a:r>
          </a:p>
        </p:txBody>
      </p:sp>
      <p:pic>
        <p:nvPicPr>
          <p:cNvPr id="4" name="Picture 3" descr="image.jpg"/>
          <p:cNvPicPr>
            <a:picLocks noChangeAspect="1"/>
          </p:cNvPicPr>
          <p:nvPr/>
        </p:nvPicPr>
        <p:blipFill>
          <a:blip r:embed="rId2"/>
          <a:stretch>
            <a:fillRect/>
          </a:stretch>
        </p:blipFill>
        <p:spPr>
          <a:xfrm>
            <a:off x="6583680" y="1645920"/>
            <a:ext cx="5029200" cy="2997403"/>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0F0F"/>
        </a:solidFill>
        <a:effectLst/>
      </p:bgPr>
    </p:bg>
    <p:spTree>
      <p:nvGrpSpPr>
        <p:cNvPr id="1" name=""/>
        <p:cNvGrpSpPr/>
        <p:nvPr/>
      </p:nvGrpSpPr>
      <p:grpSpPr/>
      <p:sp>
        <p:nvSpPr>
          <p:cNvPr id="2" name="Title 1"/>
          <p:cNvSpPr>
            <a:spLocks noGrp="1"/>
          </p:cNvSpPr>
          <p:nvPr>
            <p:ph type="title"/>
          </p:nvPr>
        </p:nvSpPr>
        <p:spPr/>
        <p:txBody>
          <a:bodyPr/>
          <a:lstStyle/>
          <a:p>
            <a:pPr>
              <a:defRPr sz="3600">
                <a:solidFill>
                  <a:srgbClr val="6496FF"/>
                </a:solidFill>
              </a:defRPr>
            </a:pPr>
            <a:r>
              <a:t>03 - THE BAKING (Taking Back Control)</a:t>
            </a:r>
          </a:p>
        </p:txBody>
      </p:sp>
      <p:sp>
        <p:nvSpPr>
          <p:cNvPr id="3" name="TextBox 2"/>
          <p:cNvSpPr txBox="1"/>
          <p:nvPr/>
        </p:nvSpPr>
        <p:spPr>
          <a:xfrm>
            <a:off x="457200" y="1371600"/>
            <a:ext cx="5943600" cy="5029200"/>
          </a:xfrm>
          <a:prstGeom prst="rect">
            <a:avLst/>
          </a:prstGeom>
          <a:solidFill>
            <a:srgbClr val="1E1E1E"/>
          </a:solidFill>
        </p:spPr>
        <p:txBody>
          <a:bodyPr wrap="square">
            <a:spAutoFit/>
          </a:bodyPr>
          <a:lstStyle/>
          <a:p>
            <a:pPr algn="l">
              <a:defRPr sz="1300">
                <a:solidFill>
                  <a:srgbClr val="DCDCDC"/>
                </a:solidFill>
                <a:latin typeface="Consolas"/>
              </a:defRPr>
            </a:pPr>
            <a:r>
              <a:t>// DISCOVERY: Linked list traversal (Cache Miss)</a:t>
            </a:r>
          </a:p>
          <a:p>
            <a:pPr algn="l">
              <a:defRPr sz="1300">
                <a:solidFill>
                  <a:srgbClr val="DCDCDC"/>
                </a:solidFill>
                <a:latin typeface="Consolas"/>
              </a:defRPr>
            </a:pPr>
            <a:r>
              <a:t>for (auto* n = Anchor::s_Value; n; n = n-&gt;m_Next) {</a:t>
            </a:r>
          </a:p>
          <a:p>
            <a:pPr algn="l">
              <a:defRPr sz="1300">
                <a:solidFill>
                  <a:srgbClr val="DCDCDC"/>
                </a:solidFill>
                <a:latin typeface="Consolas"/>
              </a:defRPr>
            </a:pPr>
            <a:r>
              <a:t>    if (n-&gt;GetID() == modelID) return n; </a:t>
            </a:r>
          </a:p>
          <a:p>
            <a:pPr algn="l">
              <a:defRPr sz="1300">
                <a:solidFill>
                  <a:srgbClr val="DCDCDC"/>
                </a:solidFill>
                <a:latin typeface="Consolas"/>
              </a:defRPr>
            </a:pPr>
            <a:r>
              <a:t>}</a:t>
            </a:r>
          </a:p>
          <a:p>
            <a:pPr algn="l">
              <a:defRPr sz="1300">
                <a:solidFill>
                  <a:srgbClr val="DCDCDC"/>
                </a:solidFill>
                <a:latin typeface="Consolas"/>
              </a:defRPr>
            </a:pPr>
          </a:p>
          <a:p>
            <a:pPr algn="l">
              <a:defRPr sz="1300">
                <a:solidFill>
                  <a:srgbClr val="DCDCDC"/>
                </a:solidFill>
                <a:latin typeface="Consolas"/>
              </a:defRPr>
            </a:pPr>
            <a:r>
              <a:t>// BAKED: StaticGuard triggers once automatically.</a:t>
            </a:r>
          </a:p>
          <a:p>
            <a:pPr algn="l">
              <a:defRPr sz="1300">
                <a:solidFill>
                  <a:srgbClr val="DCDCDC"/>
                </a:solidFill>
                <a:latin typeface="Consolas"/>
              </a:defRPr>
            </a:pPr>
            <a:r>
              <a:t>// Flattened into a contiguous matrix.</a:t>
            </a:r>
          </a:p>
          <a:p>
            <a:pPr algn="l">
              <a:defRPr sz="1300">
                <a:solidFill>
                  <a:srgbClr val="DCDCDC"/>
                </a:solidFill>
                <a:latin typeface="Consolas"/>
              </a:defRPr>
            </a:pPr>
            <a:r>
              <a:t>return s_CapabilityTensor[denseModelID][contextOffset]; // O(1)</a:t>
            </a:r>
          </a:p>
        </p:txBody>
      </p:sp>
      <p:pic>
        <p:nvPicPr>
          <p:cNvPr id="4" name="Picture 3" descr="image.jpg"/>
          <p:cNvPicPr>
            <a:picLocks noChangeAspect="1"/>
          </p:cNvPicPr>
          <p:nvPr/>
        </p:nvPicPr>
        <p:blipFill>
          <a:blip r:embed="rId2"/>
          <a:stretch>
            <a:fillRect/>
          </a:stretch>
        </p:blipFill>
        <p:spPr>
          <a:xfrm>
            <a:off x="6583680" y="1645920"/>
            <a:ext cx="5029200" cy="843219"/>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0F0F"/>
        </a:solidFill>
        <a:effectLst/>
      </p:bgPr>
    </p:bg>
    <p:spTree>
      <p:nvGrpSpPr>
        <p:cNvPr id="1" name=""/>
        <p:cNvGrpSpPr/>
        <p:nvPr/>
      </p:nvGrpSpPr>
      <p:grpSpPr/>
      <p:sp>
        <p:nvSpPr>
          <p:cNvPr id="2" name="Title 1"/>
          <p:cNvSpPr>
            <a:spLocks noGrp="1"/>
          </p:cNvSpPr>
          <p:nvPr>
            <p:ph type="title"/>
          </p:nvPr>
        </p:nvSpPr>
        <p:spPr/>
        <p:txBody>
          <a:bodyPr/>
          <a:lstStyle/>
          <a:p>
            <a:pPr>
              <a:defRPr sz="3600">
                <a:solidFill>
                  <a:srgbClr val="6496FF"/>
                </a:solidFill>
              </a:defRPr>
            </a:pPr>
            <a:r>
              <a:t>04 - THE OPAQUE TRANSPORT (ModelShell)</a:t>
            </a:r>
          </a:p>
        </p:txBody>
      </p:sp>
      <p:sp>
        <p:nvSpPr>
          <p:cNvPr id="3" name="TextBox 2"/>
          <p:cNvSpPr txBox="1"/>
          <p:nvPr/>
        </p:nvSpPr>
        <p:spPr>
          <a:xfrm>
            <a:off x="457200" y="1371600"/>
            <a:ext cx="5943600" cy="5029200"/>
          </a:xfrm>
          <a:prstGeom prst="rect">
            <a:avLst/>
          </a:prstGeom>
          <a:solidFill>
            <a:srgbClr val="1E1E1E"/>
          </a:solidFill>
        </p:spPr>
        <p:txBody>
          <a:bodyPr wrap="square">
            <a:spAutoFit/>
          </a:bodyPr>
          <a:lstStyle/>
          <a:p>
            <a:pPr algn="l">
              <a:defRPr sz="1300">
                <a:solidFill>
                  <a:srgbClr val="DCDCDC"/>
                </a:solidFill>
                <a:latin typeface="Consolas"/>
              </a:defRPr>
            </a:pPr>
            <a:r>
              <a:t>class ModelShell {</a:t>
            </a:r>
          </a:p>
          <a:p>
            <a:pPr algn="l">
              <a:defRPr sz="1300">
                <a:solidFill>
                  <a:srgbClr val="DCDCDC"/>
                </a:solidFill>
                <a:latin typeface="Consolas"/>
              </a:defRPr>
            </a:pPr>
            <a:r>
              <a:t>    struct Concept { virtual ModelTypeID GetID() const = 0; };</a:t>
            </a:r>
          </a:p>
          <a:p>
            <a:pPr algn="l">
              <a:defRPr sz="1300">
                <a:solidFill>
                  <a:srgbClr val="DCDCDC"/>
                </a:solidFill>
                <a:latin typeface="Consolas"/>
              </a:defRPr>
            </a:pPr>
            <a:r>
              <a:t>    template&lt;class T&gt; struct Model : Concept { T value; };</a:t>
            </a:r>
          </a:p>
          <a:p>
            <a:pPr algn="l">
              <a:defRPr sz="1300">
                <a:solidFill>
                  <a:srgbClr val="DCDCDC"/>
                </a:solidFill>
                <a:latin typeface="Consolas"/>
              </a:defRPr>
            </a:pPr>
            <a:r>
              <a:t>    alignas(64) std::byte m_SBO[64]; // SBO, Zero heap</a:t>
            </a:r>
          </a:p>
          <a:p>
            <a:pPr algn="l">
              <a:defRPr sz="1300">
                <a:solidFill>
                  <a:srgbClr val="DCDCDC"/>
                </a:solidFill>
                <a:latin typeface="Consolas"/>
              </a:defRPr>
            </a:pPr>
            <a:r>
              <a:t>public:</a:t>
            </a:r>
          </a:p>
          <a:p>
            <a:pPr algn="l">
              <a:defRPr sz="1300">
                <a:solidFill>
                  <a:srgbClr val="DCDCDC"/>
                </a:solidFill>
                <a:latin typeface="Consolas"/>
              </a:defRPr>
            </a:pPr>
            <a:r>
              <a:t>    template&lt;class T&gt; const T&amp; Get() const {</a:t>
            </a:r>
          </a:p>
          <a:p>
            <a:pPr algn="l">
              <a:defRPr sz="1300">
                <a:solidFill>
                  <a:srgbClr val="DCDCDC"/>
                </a:solidFill>
                <a:latin typeface="Consolas"/>
              </a:defRPr>
            </a:pPr>
            <a:r>
              <a:t>        return static_cast&lt;const Model&lt;T&gt;*&gt;(m_ptr)-&gt;value;</a:t>
            </a:r>
          </a:p>
          <a:p>
            <a:pPr algn="l">
              <a:defRPr sz="1300">
                <a:solidFill>
                  <a:srgbClr val="DCDCDC"/>
                </a:solidFill>
                <a:latin typeface="Consolas"/>
              </a:defRPr>
            </a:pPr>
            <a:r>
              <a:t>    }</a:t>
            </a:r>
          </a:p>
          <a:p>
            <a:pPr algn="l">
              <a:defRPr sz="1300">
                <a:solidFill>
                  <a:srgbClr val="DCDCDC"/>
                </a:solidFill>
                <a:latin typeface="Consolas"/>
              </a:defRPr>
            </a:pPr>
            <a:r>
              <a:t>};</a:t>
            </a:r>
          </a:p>
        </p:txBody>
      </p:sp>
      <p:pic>
        <p:nvPicPr>
          <p:cNvPr id="4" name="Picture 3" descr="image.jpg"/>
          <p:cNvPicPr>
            <a:picLocks noChangeAspect="1"/>
          </p:cNvPicPr>
          <p:nvPr/>
        </p:nvPicPr>
        <p:blipFill>
          <a:blip r:embed="rId2"/>
          <a:stretch>
            <a:fillRect/>
          </a:stretch>
        </p:blipFill>
        <p:spPr>
          <a:xfrm>
            <a:off x="6583680" y="1645920"/>
            <a:ext cx="5029200" cy="893618"/>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0F0F"/>
        </a:solidFill>
        <a:effectLst/>
      </p:bgPr>
    </p:bg>
    <p:spTree>
      <p:nvGrpSpPr>
        <p:cNvPr id="1" name=""/>
        <p:cNvGrpSpPr/>
        <p:nvPr/>
      </p:nvGrpSpPr>
      <p:grpSpPr/>
      <p:sp>
        <p:nvSpPr>
          <p:cNvPr id="2" name="Title 1"/>
          <p:cNvSpPr>
            <a:spLocks noGrp="1"/>
          </p:cNvSpPr>
          <p:nvPr>
            <p:ph type="title"/>
          </p:nvPr>
        </p:nvSpPr>
        <p:spPr/>
        <p:txBody>
          <a:bodyPr/>
          <a:lstStyle/>
          <a:p>
            <a:pPr>
              <a:defRPr sz="3600">
                <a:solidFill>
                  <a:srgbClr val="6496FF"/>
                </a:solidFill>
              </a:defRPr>
            </a:pPr>
            <a:r>
              <a:t>05 - THE VIRTUAL DEADLOCK (Breaking the Lock)</a:t>
            </a:r>
          </a:p>
        </p:txBody>
      </p:sp>
      <p:sp>
        <p:nvSpPr>
          <p:cNvPr id="3" name="TextBox 2"/>
          <p:cNvSpPr txBox="1"/>
          <p:nvPr/>
        </p:nvSpPr>
        <p:spPr>
          <a:xfrm>
            <a:off x="457200" y="1371600"/>
            <a:ext cx="5943600" cy="5029200"/>
          </a:xfrm>
          <a:prstGeom prst="rect">
            <a:avLst/>
          </a:prstGeom>
          <a:solidFill>
            <a:srgbClr val="1E1E1E"/>
          </a:solidFill>
        </p:spPr>
        <p:txBody>
          <a:bodyPr wrap="square">
            <a:spAutoFit/>
          </a:bodyPr>
          <a:lstStyle/>
          <a:p>
            <a:pPr algn="l">
              <a:defRPr sz="1300">
                <a:solidFill>
                  <a:srgbClr val="DCDCDC"/>
                </a:solidFill>
                <a:latin typeface="Consolas"/>
              </a:defRPr>
            </a:pPr>
            <a:r>
              <a:t>// THE PROBLEM: Virtual + Template = Illegal</a:t>
            </a:r>
          </a:p>
          <a:p>
            <a:pPr algn="l">
              <a:defRPr sz="1300">
                <a:solidFill>
                  <a:srgbClr val="DCDCDC"/>
                </a:solidFill>
                <a:latin typeface="Consolas"/>
              </a:defRPr>
            </a:pPr>
            <a:r>
              <a:t>struct IShape {</a:t>
            </a:r>
          </a:p>
          <a:p>
            <a:pPr algn="l">
              <a:defRPr sz="1300">
                <a:solidFill>
                  <a:srgbClr val="DCDCDC"/>
                </a:solidFill>
                <a:latin typeface="Consolas"/>
              </a:defRPr>
            </a:pPr>
            <a:r>
              <a:t>    template&lt;class T&gt; virtual T Get() = 0; // compiler error</a:t>
            </a:r>
          </a:p>
          <a:p>
            <a:pPr algn="l">
              <a:defRPr sz="1300">
                <a:solidFill>
                  <a:srgbClr val="DCDCDC"/>
                </a:solidFill>
                <a:latin typeface="Consolas"/>
              </a:defRPr>
            </a:pPr>
            <a:r>
              <a:t>};</a:t>
            </a:r>
          </a:p>
          <a:p>
            <a:pPr algn="l">
              <a:defRPr sz="1300">
                <a:solidFill>
                  <a:srgbClr val="DCDCDC"/>
                </a:solidFill>
                <a:latin typeface="Consolas"/>
              </a:defRPr>
            </a:pPr>
          </a:p>
          <a:p>
            <a:pPr algn="l">
              <a:defRPr sz="1300">
                <a:solidFill>
                  <a:srgbClr val="DCDCDC"/>
                </a:solidFill>
                <a:latin typeface="Consolas"/>
              </a:defRPr>
            </a:pPr>
            <a:r>
              <a:t>// THE BREAK: Split concerns</a:t>
            </a:r>
          </a:p>
          <a:p>
            <a:pPr algn="l">
              <a:defRPr sz="1300">
                <a:solidFill>
                  <a:srgbClr val="DCDCDC"/>
                </a:solidFill>
                <a:latin typeface="Consolas"/>
              </a:defRPr>
            </a:pPr>
            <a:r>
              <a:t>struct Concept {</a:t>
            </a:r>
          </a:p>
          <a:p>
            <a:pPr algn="l">
              <a:defRPr sz="1300">
                <a:solidFill>
                  <a:srgbClr val="DCDCDC"/>
                </a:solidFill>
                <a:latin typeface="Consolas"/>
              </a:defRPr>
            </a:pPr>
            <a:r>
              <a:t>    virtual ModelTypeID GetID() const = 0; // Identity</a:t>
            </a:r>
          </a:p>
          <a:p>
            <a:pPr algn="l">
              <a:defRPr sz="1300">
                <a:solidFill>
                  <a:srgbClr val="DCDCDC"/>
                </a:solidFill>
                <a:latin typeface="Consolas"/>
              </a:defRPr>
            </a:pPr>
            <a:r>
              <a:t>};</a:t>
            </a:r>
          </a:p>
          <a:p>
            <a:pPr algn="l">
              <a:defRPr sz="1300">
                <a:solidFill>
                  <a:srgbClr val="DCDCDC"/>
                </a:solidFill>
                <a:latin typeface="Consolas"/>
              </a:defRPr>
            </a:pPr>
            <a:r>
              <a:t>template&lt;class T&gt;</a:t>
            </a:r>
          </a:p>
          <a:p>
            <a:pPr algn="l">
              <a:defRPr sz="1300">
                <a:solidFill>
                  <a:srgbClr val="DCDCDC"/>
                </a:solidFill>
                <a:latin typeface="Consolas"/>
              </a:defRPr>
            </a:pPr>
            <a:r>
              <a:t>const T&amp; Get() const { ... } // Template Data Recovery</a:t>
            </a:r>
          </a:p>
        </p:txBody>
      </p:sp>
      <p:pic>
        <p:nvPicPr>
          <p:cNvPr id="4" name="Picture 3" descr="image.jpg"/>
          <p:cNvPicPr>
            <a:picLocks noChangeAspect="1"/>
          </p:cNvPicPr>
          <p:nvPr/>
        </p:nvPicPr>
        <p:blipFill>
          <a:blip r:embed="rId2"/>
          <a:stretch>
            <a:fillRect/>
          </a:stretch>
        </p:blipFill>
        <p:spPr>
          <a:xfrm>
            <a:off x="6583680" y="1645920"/>
            <a:ext cx="5029200" cy="1102538"/>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0F0F"/>
        </a:solidFill>
        <a:effectLst/>
      </p:bgPr>
    </p:bg>
    <p:spTree>
      <p:nvGrpSpPr>
        <p:cNvPr id="1" name=""/>
        <p:cNvGrpSpPr/>
        <p:nvPr/>
      </p:nvGrpSpPr>
      <p:grpSpPr/>
      <p:sp>
        <p:nvSpPr>
          <p:cNvPr id="2" name="Title 1"/>
          <p:cNvSpPr>
            <a:spLocks noGrp="1"/>
          </p:cNvSpPr>
          <p:nvPr>
            <p:ph type="title"/>
          </p:nvPr>
        </p:nvSpPr>
        <p:spPr/>
        <p:txBody>
          <a:bodyPr/>
          <a:lstStyle/>
          <a:p>
            <a:pPr>
              <a:defRPr sz="3600">
                <a:solidFill>
                  <a:srgbClr val="6496FF"/>
                </a:solidFill>
              </a:defRPr>
            </a:pPr>
            <a:r>
              <a:t>06 - IDENTITY DECOUPLING (The Capability Binding)</a:t>
            </a:r>
          </a:p>
        </p:txBody>
      </p:sp>
      <p:sp>
        <p:nvSpPr>
          <p:cNvPr id="3" name="TextBox 2"/>
          <p:cNvSpPr txBox="1"/>
          <p:nvPr/>
        </p:nvSpPr>
        <p:spPr>
          <a:xfrm>
            <a:off x="457200" y="1371600"/>
            <a:ext cx="5943600" cy="5029200"/>
          </a:xfrm>
          <a:prstGeom prst="rect">
            <a:avLst/>
          </a:prstGeom>
          <a:solidFill>
            <a:srgbClr val="1E1E1E"/>
          </a:solidFill>
        </p:spPr>
        <p:txBody>
          <a:bodyPr wrap="square">
            <a:spAutoFit/>
          </a:bodyPr>
          <a:lstStyle/>
          <a:p>
            <a:pPr algn="l">
              <a:defRPr sz="1300">
                <a:solidFill>
                  <a:srgbClr val="DCDCDC"/>
                </a:solidFill>
                <a:latin typeface="Consolas"/>
              </a:defRPr>
            </a:pPr>
            <a:r>
              <a:t>// DATA: scout.h (Pure state)</a:t>
            </a:r>
          </a:p>
          <a:p>
            <a:pPr algn="l">
              <a:defRPr sz="1300">
                <a:solidFill>
                  <a:srgbClr val="DCDCDC"/>
                </a:solidFill>
                <a:latin typeface="Consolas"/>
              </a:defRPr>
            </a:pPr>
            <a:r>
              <a:t>struct Scout { string callsign; int health; };</a:t>
            </a:r>
          </a:p>
          <a:p>
            <a:pPr algn="l">
              <a:defRPr sz="1300">
                <a:solidFill>
                  <a:srgbClr val="DCDCDC"/>
                </a:solidFill>
                <a:latin typeface="Consolas"/>
              </a:defRPr>
            </a:pPr>
          </a:p>
          <a:p>
            <a:pPr algn="l">
              <a:defRPr sz="1300">
                <a:solidFill>
                  <a:srgbClr val="DCDCDC"/>
                </a:solidFill>
                <a:latin typeface="Consolas"/>
              </a:defRPr>
            </a:pPr>
            <a:r>
              <a:t>// LOGIC: diag.cpp (Pure logic)</a:t>
            </a:r>
          </a:p>
          <a:p>
            <a:pPr algn="l">
              <a:defRPr sz="1300">
                <a:solidFill>
                  <a:srgbClr val="DCDCDC"/>
                </a:solidFill>
                <a:latin typeface="Consolas"/>
              </a:defRPr>
            </a:pPr>
            <a:r>
              <a:t>struct Diagnostic : IDiagnostic {</a:t>
            </a:r>
          </a:p>
          <a:p>
            <a:pPr algn="l">
              <a:defRPr sz="1300">
                <a:solidFill>
                  <a:srgbClr val="DCDCDC"/>
                </a:solidFill>
                <a:latin typeface="Consolas"/>
              </a:defRPr>
            </a:pPr>
            <a:r>
              <a:t>    void Execute(const ModelShell&amp; shell) const { ... }</a:t>
            </a:r>
          </a:p>
          <a:p>
            <a:pPr algn="l">
              <a:defRPr sz="1300">
                <a:solidFill>
                  <a:srgbClr val="DCDCDC"/>
                </a:solidFill>
                <a:latin typeface="Consolas"/>
              </a:defRPr>
            </a:pPr>
            <a:r>
              <a:t>};</a:t>
            </a:r>
          </a:p>
          <a:p>
            <a:pPr algn="l">
              <a:defRPr sz="1300">
                <a:solidFill>
                  <a:srgbClr val="DCDCDC"/>
                </a:solidFill>
                <a:latin typeface="Consolas"/>
              </a:defRPr>
            </a:pPr>
          </a:p>
          <a:p>
            <a:pPr algn="l">
              <a:defRPr sz="1300">
                <a:solidFill>
                  <a:srgbClr val="DCDCDC"/>
                </a:solidFill>
                <a:latin typeface="Consolas"/>
              </a:defRPr>
            </a:pPr>
            <a:r>
              <a:t>// BINDING: wire.cpp (The wire)</a:t>
            </a:r>
          </a:p>
          <a:p>
            <a:pPr algn="l">
              <a:defRPr sz="1300">
                <a:solidFill>
                  <a:srgbClr val="DCDCDC"/>
                </a:solidFill>
                <a:latin typeface="Consolas"/>
              </a:defRPr>
            </a:pPr>
            <a:r>
              <a:t>static const CapabilityBinding&lt;Scout, Diagnostic&gt; g_ScoutDiag;</a:t>
            </a:r>
          </a:p>
        </p:txBody>
      </p:sp>
      <p:pic>
        <p:nvPicPr>
          <p:cNvPr id="4" name="Picture 3" descr="image.jpg"/>
          <p:cNvPicPr>
            <a:picLocks noChangeAspect="1"/>
          </p:cNvPicPr>
          <p:nvPr/>
        </p:nvPicPr>
        <p:blipFill>
          <a:blip r:embed="rId2"/>
          <a:stretch>
            <a:fillRect/>
          </a:stretch>
        </p:blipFill>
        <p:spPr>
          <a:xfrm>
            <a:off x="6583680" y="1645920"/>
            <a:ext cx="5029200" cy="1415988"/>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0F0F"/>
        </a:solidFill>
        <a:effectLst/>
      </p:bgPr>
    </p:bg>
    <p:spTree>
      <p:nvGrpSpPr>
        <p:cNvPr id="1" name=""/>
        <p:cNvGrpSpPr/>
        <p:nvPr/>
      </p:nvGrpSpPr>
      <p:grpSpPr/>
      <p:sp>
        <p:nvSpPr>
          <p:cNvPr id="2" name="Title 1"/>
          <p:cNvSpPr>
            <a:spLocks noGrp="1"/>
          </p:cNvSpPr>
          <p:nvPr>
            <p:ph type="title"/>
          </p:nvPr>
        </p:nvSpPr>
        <p:spPr/>
        <p:txBody>
          <a:bodyPr/>
          <a:lstStyle/>
          <a:p>
            <a:pPr>
              <a:defRPr sz="3600">
                <a:solidFill>
                  <a:srgbClr val="6496FF"/>
                </a:solidFill>
              </a:defRPr>
            </a:pPr>
            <a:r>
              <a:t>07 - THE OOP ILLUSION (Invoke / TryInvoke)</a:t>
            </a:r>
          </a:p>
        </p:txBody>
      </p:sp>
      <p:sp>
        <p:nvSpPr>
          <p:cNvPr id="3" name="TextBox 2"/>
          <p:cNvSpPr txBox="1"/>
          <p:nvPr/>
        </p:nvSpPr>
        <p:spPr>
          <a:xfrm>
            <a:off x="457200" y="1371600"/>
            <a:ext cx="5943600" cy="5029200"/>
          </a:xfrm>
          <a:prstGeom prst="rect">
            <a:avLst/>
          </a:prstGeom>
          <a:solidFill>
            <a:srgbClr val="1E1E1E"/>
          </a:solidFill>
        </p:spPr>
        <p:txBody>
          <a:bodyPr wrap="square">
            <a:spAutoFit/>
          </a:bodyPr>
          <a:lstStyle/>
          <a:p>
            <a:pPr algn="l">
              <a:defRPr sz="1300">
                <a:solidFill>
                  <a:srgbClr val="DCDCDC"/>
                </a:solidFill>
                <a:latin typeface="Consolas"/>
              </a:defRPr>
            </a:pPr>
            <a:r>
              <a:t>// Cold Path: Clean OOP syntax</a:t>
            </a:r>
          </a:p>
          <a:p>
            <a:pPr algn="l">
              <a:defRPr sz="1300">
                <a:solidFill>
                  <a:srgbClr val="DCDCDC"/>
                </a:solidFill>
                <a:latin typeface="Consolas"/>
              </a:defRPr>
            </a:pPr>
            <a:r>
              <a:t>shell.Invoke&lt;&amp;IMovement::Move&gt;(ctx);</a:t>
            </a:r>
          </a:p>
          <a:p>
            <a:pPr algn="l">
              <a:defRPr sz="1300">
                <a:solidFill>
                  <a:srgbClr val="DCDCDC"/>
                </a:solidFill>
                <a:latin typeface="Consolas"/>
              </a:defRPr>
            </a:pPr>
          </a:p>
          <a:p>
            <a:pPr algn="l">
              <a:defRPr sz="1300">
                <a:solidFill>
                  <a:srgbClr val="DCDCDC"/>
                </a:solidFill>
                <a:latin typeface="Consolas"/>
              </a:defRPr>
            </a:pPr>
            <a:r>
              <a:t>// Analyzed at compile-time:</a:t>
            </a:r>
          </a:p>
          <a:p>
            <a:pPr algn="l">
              <a:defRPr sz="1300">
                <a:solidFill>
                  <a:srgbClr val="DCDCDC"/>
                </a:solidFill>
                <a:latin typeface="Consolas"/>
              </a:defRPr>
            </a:pPr>
            <a:r>
              <a:t>// 1. Extracts Interface (IMovement)</a:t>
            </a:r>
          </a:p>
          <a:p>
            <a:pPr algn="l">
              <a:defRPr sz="1300">
                <a:solidFill>
                  <a:srgbClr val="DCDCDC"/>
                </a:solidFill>
                <a:latin typeface="Consolas"/>
              </a:defRPr>
            </a:pPr>
            <a:r>
              <a:t>// 2. Validates signature</a:t>
            </a:r>
          </a:p>
          <a:p>
            <a:pPr algn="l">
              <a:defRPr sz="1300">
                <a:solidFill>
                  <a:srgbClr val="DCDCDC"/>
                </a:solidFill>
                <a:latin typeface="Consolas"/>
              </a:defRPr>
            </a:pPr>
            <a:r>
              <a:t>// 3. One virtual jump + O(1) tensor</a:t>
            </a:r>
          </a:p>
          <a:p>
            <a:pPr algn="l">
              <a:defRPr sz="1300">
                <a:solidFill>
                  <a:srgbClr val="DCDCDC"/>
                </a:solidFill>
                <a:latin typeface="Consolas"/>
              </a:defRPr>
            </a:pPr>
            <a:r>
              <a:t>// 4. Direct call</a:t>
            </a:r>
          </a:p>
        </p:txBody>
      </p:sp>
      <p:pic>
        <p:nvPicPr>
          <p:cNvPr id="4" name="Picture 3" descr="image.jpg"/>
          <p:cNvPicPr>
            <a:picLocks noChangeAspect="1"/>
          </p:cNvPicPr>
          <p:nvPr/>
        </p:nvPicPr>
        <p:blipFill>
          <a:blip r:embed="rId2"/>
          <a:stretch>
            <a:fillRect/>
          </a:stretch>
        </p:blipFill>
        <p:spPr>
          <a:xfrm>
            <a:off x="6583680" y="1645920"/>
            <a:ext cx="5029200" cy="206493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0F0F"/>
        </a:solidFill>
        <a:effectLst/>
      </p:bgPr>
    </p:bg>
    <p:spTree>
      <p:nvGrpSpPr>
        <p:cNvPr id="1" name=""/>
        <p:cNvGrpSpPr/>
        <p:nvPr/>
      </p:nvGrpSpPr>
      <p:grpSpPr/>
      <p:sp>
        <p:nvSpPr>
          <p:cNvPr id="2" name="Title 1"/>
          <p:cNvSpPr>
            <a:spLocks noGrp="1"/>
          </p:cNvSpPr>
          <p:nvPr>
            <p:ph type="title"/>
          </p:nvPr>
        </p:nvSpPr>
        <p:spPr/>
        <p:txBody>
          <a:bodyPr/>
          <a:lstStyle/>
          <a:p>
            <a:pPr>
              <a:defRPr sz="3600">
                <a:solidFill>
                  <a:srgbClr val="6496FF"/>
                </a:solidFill>
              </a:defRPr>
            </a:pPr>
            <a:r>
              <a:t>08 - THE BAKER (One Line, N Models)</a:t>
            </a:r>
          </a:p>
        </p:txBody>
      </p:sp>
      <p:sp>
        <p:nvSpPr>
          <p:cNvPr id="3" name="TextBox 2"/>
          <p:cNvSpPr txBox="1"/>
          <p:nvPr/>
        </p:nvSpPr>
        <p:spPr>
          <a:xfrm>
            <a:off x="457200" y="1371600"/>
            <a:ext cx="5943600" cy="5029200"/>
          </a:xfrm>
          <a:prstGeom prst="rect">
            <a:avLst/>
          </a:prstGeom>
          <a:solidFill>
            <a:srgbClr val="1E1E1E"/>
          </a:solidFill>
        </p:spPr>
        <p:txBody>
          <a:bodyPr wrap="square">
            <a:spAutoFit/>
          </a:bodyPr>
          <a:lstStyle/>
          <a:p>
            <a:pPr algn="l">
              <a:defRPr sz="1300">
                <a:solidFill>
                  <a:srgbClr val="DCDCDC"/>
                </a:solidFill>
                <a:latin typeface="Consolas"/>
              </a:defRPr>
            </a:pPr>
            <a:r>
              <a:t>using AirModels = TypeList&lt;Scout, Drone, Heavy&gt;;</a:t>
            </a:r>
          </a:p>
          <a:p>
            <a:pPr algn="l">
              <a:defRPr sz="1300">
                <a:solidFill>
                  <a:srgbClr val="DCDCDC"/>
                </a:solidFill>
                <a:latin typeface="Consolas"/>
              </a:defRPr>
            </a:pPr>
          </a:p>
          <a:p>
            <a:pPr algn="l">
              <a:defRPr sz="1300">
                <a:solidFill>
                  <a:srgbClr val="DCDCDC"/>
                </a:solidFill>
                <a:latin typeface="Consolas"/>
              </a:defRPr>
            </a:pPr>
            <a:r>
              <a:t>// One line. All models. All capabilities.</a:t>
            </a:r>
          </a:p>
          <a:p>
            <a:pPr algn="l">
              <a:defRPr sz="1300">
                <a:solidFill>
                  <a:srgbClr val="DCDCDC"/>
                </a:solidFill>
                <a:latin typeface="Consolas"/>
              </a:defRPr>
            </a:pPr>
            <a:r>
              <a:t>static const CapabilityBaker&lt;AirModels, Diag, Tele&gt; g_AirBaker;</a:t>
            </a:r>
          </a:p>
        </p:txBody>
      </p:sp>
      <p:pic>
        <p:nvPicPr>
          <p:cNvPr id="4" name="Picture 3" descr="image.jpg"/>
          <p:cNvPicPr>
            <a:picLocks noChangeAspect="1"/>
          </p:cNvPicPr>
          <p:nvPr/>
        </p:nvPicPr>
        <p:blipFill>
          <a:blip r:embed="rId2"/>
          <a:stretch>
            <a:fillRect/>
          </a:stretch>
        </p:blipFill>
        <p:spPr>
          <a:xfrm>
            <a:off x="6583680" y="1645920"/>
            <a:ext cx="5029200" cy="2452838"/>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0F0F"/>
        </a:solidFill>
        <a:effectLst/>
      </p:bgPr>
    </p:bg>
    <p:spTree>
      <p:nvGrpSpPr>
        <p:cNvPr id="1" name=""/>
        <p:cNvGrpSpPr/>
        <p:nvPr/>
      </p:nvGrpSpPr>
      <p:grpSpPr/>
      <p:sp>
        <p:nvSpPr>
          <p:cNvPr id="2" name="Title 1"/>
          <p:cNvSpPr>
            <a:spLocks noGrp="1"/>
          </p:cNvSpPr>
          <p:nvPr>
            <p:ph type="title"/>
          </p:nvPr>
        </p:nvSpPr>
        <p:spPr/>
        <p:txBody>
          <a:bodyPr/>
          <a:lstStyle/>
          <a:p>
            <a:pPr>
              <a:defRPr sz="3600">
                <a:solidFill>
                  <a:srgbClr val="6496FF"/>
                </a:solidFill>
              </a:defRPr>
            </a:pPr>
            <a:r>
              <a:t>09 - THE PRICE OF FREEDOM (O(N) Search)</a:t>
            </a:r>
          </a:p>
        </p:txBody>
      </p:sp>
      <p:sp>
        <p:nvSpPr>
          <p:cNvPr id="3" name="TextBox 2"/>
          <p:cNvSpPr txBox="1"/>
          <p:nvPr/>
        </p:nvSpPr>
        <p:spPr>
          <a:xfrm>
            <a:off x="457200" y="1371600"/>
            <a:ext cx="5943600" cy="5029200"/>
          </a:xfrm>
          <a:prstGeom prst="rect">
            <a:avLst/>
          </a:prstGeom>
          <a:solidFill>
            <a:srgbClr val="1E1E1E"/>
          </a:solidFill>
        </p:spPr>
        <p:txBody>
          <a:bodyPr wrap="square">
            <a:spAutoFit/>
          </a:bodyPr>
          <a:lstStyle/>
          <a:p>
            <a:pPr algn="l">
              <a:defRPr sz="1300">
                <a:solidFill>
                  <a:srgbClr val="DCDCDC"/>
                </a:solidFill>
                <a:latin typeface="Consolas"/>
              </a:defRPr>
            </a:pPr>
            <a:r>
              <a:t>// Current Find() bottleneck:</a:t>
            </a:r>
          </a:p>
          <a:p>
            <a:pPr algn="l">
              <a:defRPr sz="1300">
                <a:solidFill>
                  <a:srgbClr val="DCDCDC"/>
                </a:solidFill>
                <a:latin typeface="Consolas"/>
              </a:defRPr>
            </a:pPr>
            <a:r>
              <a:t>for (const auto* node : RouterSlot::s_Value) {</a:t>
            </a:r>
          </a:p>
          <a:p>
            <a:pPr algn="l">
              <a:defRPr sz="1300">
                <a:solidFill>
                  <a:srgbClr val="DCDCDC"/>
                </a:solidFill>
                <a:latin typeface="Consolas"/>
              </a:defRPr>
            </a:pPr>
            <a:r>
              <a:t>    if (node-&gt;GetID() == modelID) // comparison</a:t>
            </a:r>
          </a:p>
          <a:p>
            <a:pPr algn="l">
              <a:defRPr sz="1300">
                <a:solidFill>
                  <a:srgbClr val="DCDCDC"/>
                </a:solidFill>
                <a:latin typeface="Consolas"/>
              </a:defRPr>
            </a:pPr>
            <a:r>
              <a:t>        return node-&gt;Resolve(iid);</a:t>
            </a:r>
          </a:p>
          <a:p>
            <a:pPr algn="l">
              <a:defRPr sz="1300">
                <a:solidFill>
                  <a:srgbClr val="DCDCDC"/>
                </a:solidFill>
                <a:latin typeface="Consolas"/>
              </a:defRPr>
            </a:pPr>
            <a:r>
              <a:t>}</a:t>
            </a:r>
          </a:p>
        </p:txBody>
      </p:sp>
      <p:pic>
        <p:nvPicPr>
          <p:cNvPr id="4" name="Picture 3" descr="image.jpg"/>
          <p:cNvPicPr>
            <a:picLocks noChangeAspect="1"/>
          </p:cNvPicPr>
          <p:nvPr/>
        </p:nvPicPr>
        <p:blipFill>
          <a:blip r:embed="rId2"/>
          <a:stretch>
            <a:fillRect/>
          </a:stretch>
        </p:blipFill>
        <p:spPr>
          <a:xfrm>
            <a:off x="6583680" y="1645920"/>
            <a:ext cx="5029200" cy="66549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0F0F"/>
        </a:solidFill>
        <a:effectLst/>
      </p:bgPr>
    </p:bg>
    <p:spTree>
      <p:nvGrpSpPr>
        <p:cNvPr id="1" name=""/>
        <p:cNvGrpSpPr/>
        <p:nvPr/>
      </p:nvGrpSpPr>
      <p:grpSpPr/>
      <p:sp>
        <p:nvSpPr>
          <p:cNvPr id="2" name="Title 1"/>
          <p:cNvSpPr>
            <a:spLocks noGrp="1"/>
          </p:cNvSpPr>
          <p:nvPr>
            <p:ph type="title"/>
          </p:nvPr>
        </p:nvSpPr>
        <p:spPr/>
        <p:txBody>
          <a:bodyPr/>
          <a:lstStyle/>
          <a:p>
            <a:pPr>
              <a:defRPr sz="3600">
                <a:solidFill>
                  <a:srgbClr val="6496FF"/>
                </a:solidFill>
              </a:defRPr>
            </a:pPr>
            <a:r>
              <a:t>10 - THE ID EXPLOSION (The Sparse Universe)</a:t>
            </a:r>
          </a:p>
        </p:txBody>
      </p:sp>
      <p:sp>
        <p:nvSpPr>
          <p:cNvPr id="3" name="TextBox 2"/>
          <p:cNvSpPr txBox="1"/>
          <p:nvPr/>
        </p:nvSpPr>
        <p:spPr>
          <a:xfrm>
            <a:off x="457200" y="1371600"/>
            <a:ext cx="5943600" cy="5029200"/>
          </a:xfrm>
          <a:prstGeom prst="rect">
            <a:avLst/>
          </a:prstGeom>
          <a:solidFill>
            <a:srgbClr val="1E1E1E"/>
          </a:solidFill>
        </p:spPr>
        <p:txBody>
          <a:bodyPr wrap="square">
            <a:spAutoFit/>
          </a:bodyPr>
          <a:lstStyle/>
          <a:p>
            <a:pPr algn="l">
              <a:defRPr sz="1300">
                <a:solidFill>
                  <a:srgbClr val="DCDCDC"/>
                </a:solidFill>
                <a:latin typeface="Consolas"/>
              </a:defRPr>
            </a:pPr>
            <a:r>
              <a:t>// typeid().hash_code() is sparse (0 to 4B)</a:t>
            </a:r>
          </a:p>
          <a:p>
            <a:pPr algn="l">
              <a:defRPr sz="1300">
                <a:solidFill>
                  <a:srgbClr val="DCDCDC"/>
                </a:solidFill>
                <a:latin typeface="Consolas"/>
              </a:defRPr>
            </a:pPr>
            <a:r>
              <a:t>// Scout -&gt; 0x4A1F...</a:t>
            </a:r>
          </a:p>
          <a:p>
            <a:pPr algn="l">
              <a:defRPr sz="1300">
                <a:solidFill>
                  <a:srgbClr val="DCDCDC"/>
                </a:solidFill>
                <a:latin typeface="Consolas"/>
              </a:defRPr>
            </a:pPr>
            <a:r>
              <a:t>// Drone -&gt; 0x9B3D...</a:t>
            </a:r>
          </a:p>
          <a:p>
            <a:pPr algn="l">
              <a:defRPr sz="1300">
                <a:solidFill>
                  <a:srgbClr val="DCDCDC"/>
                </a:solidFill>
                <a:latin typeface="Consolas"/>
              </a:defRPr>
            </a:pPr>
          </a:p>
          <a:p>
            <a:pPr algn="l">
              <a:defRPr sz="1300">
                <a:solidFill>
                  <a:srgbClr val="DCDCDC"/>
                </a:solidFill>
                <a:latin typeface="Consolas"/>
              </a:defRPr>
            </a:pPr>
            <a:r>
              <a:t>// THE COLLAPSE: DenseTypeID</a:t>
            </a:r>
          </a:p>
          <a:p>
            <a:pPr algn="l">
              <a:defRPr sz="1300">
                <a:solidFill>
                  <a:srgbClr val="DCDCDC"/>
                </a:solidFill>
                <a:latin typeface="Consolas"/>
              </a:defRPr>
            </a:pPr>
            <a:r>
              <a:t>template&lt;class T&gt;</a:t>
            </a:r>
          </a:p>
          <a:p>
            <a:pPr algn="l">
              <a:defRPr sz="1300">
                <a:solidFill>
                  <a:srgbClr val="DCDCDC"/>
                </a:solidFill>
                <a:latin typeface="Consolas"/>
              </a:defRPr>
            </a:pPr>
            <a:r>
              <a:t>struct DenseTypeID {</a:t>
            </a:r>
          </a:p>
          <a:p>
            <a:pPr algn="l">
              <a:defRPr sz="1300">
                <a:solidFill>
                  <a:srgbClr val="DCDCDC"/>
                </a:solidFill>
                <a:latin typeface="Consolas"/>
              </a:defRPr>
            </a:pPr>
            <a:r>
              <a:t>    static DenseID Get() {</a:t>
            </a:r>
          </a:p>
          <a:p>
            <a:pPr algn="l">
              <a:defRPr sz="1300">
                <a:solidFill>
                  <a:srgbClr val="DCDCDC"/>
                </a:solidFill>
                <a:latin typeface="Consolas"/>
              </a:defRPr>
            </a:pPr>
            <a:r>
              <a:t>        static DenseID s_id = Counter++; // 0, 1, 2...</a:t>
            </a:r>
          </a:p>
          <a:p>
            <a:pPr algn="l">
              <a:defRPr sz="1300">
                <a:solidFill>
                  <a:srgbClr val="DCDCDC"/>
                </a:solidFill>
                <a:latin typeface="Consolas"/>
              </a:defRPr>
            </a:pPr>
            <a:r>
              <a:t>        return s_id;</a:t>
            </a:r>
          </a:p>
          <a:p>
            <a:pPr algn="l">
              <a:defRPr sz="1300">
                <a:solidFill>
                  <a:srgbClr val="DCDCDC"/>
                </a:solidFill>
                <a:latin typeface="Consolas"/>
              </a:defRPr>
            </a:pPr>
            <a:r>
              <a:t>    }</a:t>
            </a:r>
          </a:p>
          <a:p>
            <a:pPr algn="l">
              <a:defRPr sz="1300">
                <a:solidFill>
                  <a:srgbClr val="DCDCDC"/>
                </a:solidFill>
                <a:latin typeface="Consolas"/>
              </a:defRPr>
            </a:pPr>
            <a:r>
              <a:t>};</a:t>
            </a:r>
          </a:p>
        </p:txBody>
      </p:sp>
      <p:pic>
        <p:nvPicPr>
          <p:cNvPr id="4" name="Picture 3" descr="image.jpg"/>
          <p:cNvPicPr>
            <a:picLocks noChangeAspect="1"/>
          </p:cNvPicPr>
          <p:nvPr/>
        </p:nvPicPr>
        <p:blipFill>
          <a:blip r:embed="rId2"/>
          <a:stretch>
            <a:fillRect/>
          </a:stretch>
        </p:blipFill>
        <p:spPr>
          <a:xfrm>
            <a:off x="6583680" y="1645920"/>
            <a:ext cx="5029200" cy="4219414"/>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0F0F"/>
        </a:solidFill>
        <a:effectLst/>
      </p:bgPr>
    </p:bg>
    <p:spTree>
      <p:nvGrpSpPr>
        <p:cNvPr id="1" name=""/>
        <p:cNvGrpSpPr/>
        <p:nvPr/>
      </p:nvGrpSpPr>
      <p:grpSpPr/>
      <p:sp>
        <p:nvSpPr>
          <p:cNvPr id="2" name="Title 1"/>
          <p:cNvSpPr>
            <a:spLocks noGrp="1"/>
          </p:cNvSpPr>
          <p:nvPr>
            <p:ph type="title"/>
          </p:nvPr>
        </p:nvSpPr>
        <p:spPr/>
        <p:txBody>
          <a:bodyPr/>
          <a:lstStyle/>
          <a:p>
            <a:pPr>
              <a:defRPr sz="3600">
                <a:solidFill>
                  <a:srgbClr val="6496FF"/>
                </a:solidFill>
              </a:defRPr>
            </a:pPr>
            <a:r>
              <a:t>11 - THE DENSE INDEXER (Collapse in Action)</a:t>
            </a:r>
          </a:p>
        </p:txBody>
      </p:sp>
      <p:sp>
        <p:nvSpPr>
          <p:cNvPr id="3" name="TextBox 2"/>
          <p:cNvSpPr txBox="1"/>
          <p:nvPr/>
        </p:nvSpPr>
        <p:spPr>
          <a:xfrm>
            <a:off x="457200" y="1371600"/>
            <a:ext cx="5943600" cy="5029200"/>
          </a:xfrm>
          <a:prstGeom prst="rect">
            <a:avLst/>
          </a:prstGeom>
          <a:solidFill>
            <a:srgbClr val="1E1E1E"/>
          </a:solidFill>
        </p:spPr>
        <p:txBody>
          <a:bodyPr wrap="square">
            <a:spAutoFit/>
          </a:bodyPr>
          <a:lstStyle/>
          <a:p>
            <a:pPr algn="l">
              <a:defRPr sz="1300">
                <a:solidFill>
                  <a:srgbClr val="DCDCDC"/>
                </a:solidFill>
                <a:latin typeface="Consolas"/>
              </a:defRPr>
            </a:pPr>
            <a:r>
              <a:t>// THE FLAT TENSOR: Rows = DenseID, Columns = Offset</a:t>
            </a:r>
          </a:p>
          <a:p>
            <a:pPr algn="l">
              <a:defRPr sz="1300">
                <a:solidFill>
                  <a:srgbClr val="DCDCDC"/>
                </a:solidFill>
                <a:latin typeface="Consolas"/>
              </a:defRPr>
            </a:pPr>
            <a:r>
              <a:t>static vector&lt;vector&lt;RouteNode*&gt;&gt; s_Tensor;</a:t>
            </a:r>
          </a:p>
          <a:p>
            <a:pPr algn="l">
              <a:defRPr sz="1300">
                <a:solidFill>
                  <a:srgbClr val="DCDCDC"/>
                </a:solidFill>
                <a:latin typeface="Consolas"/>
              </a:defRPr>
            </a:pPr>
          </a:p>
          <a:p>
            <a:pPr algn="l">
              <a:defRPr sz="1300">
                <a:solidFill>
                  <a:srgbClr val="DCDCDC"/>
                </a:solidFill>
                <a:latin typeface="Consolas"/>
              </a:defRPr>
            </a:pPr>
            <a:r>
              <a:t>// Lookup: two array accesses</a:t>
            </a:r>
          </a:p>
          <a:p>
            <a:pPr algn="l">
              <a:defRPr sz="1300">
                <a:solidFill>
                  <a:srgbClr val="DCDCDC"/>
                </a:solidFill>
                <a:latin typeface="Consolas"/>
              </a:defRPr>
            </a:pPr>
            <a:r>
              <a:t>return s_Tensor[denseID][offset];</a:t>
            </a:r>
          </a:p>
        </p:txBody>
      </p:sp>
      <p:pic>
        <p:nvPicPr>
          <p:cNvPr id="4" name="Picture 3" descr="image.jpg"/>
          <p:cNvPicPr>
            <a:picLocks noChangeAspect="1"/>
          </p:cNvPicPr>
          <p:nvPr/>
        </p:nvPicPr>
        <p:blipFill>
          <a:blip r:embed="rId2"/>
          <a:stretch>
            <a:fillRect/>
          </a:stretch>
        </p:blipFill>
        <p:spPr>
          <a:xfrm>
            <a:off x="6583680" y="1645920"/>
            <a:ext cx="5029200" cy="1770717"/>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0F0F"/>
        </a:solidFill>
        <a:effectLst/>
      </p:bgPr>
    </p:bg>
    <p:spTree>
      <p:nvGrpSpPr>
        <p:cNvPr id="1" name=""/>
        <p:cNvGrpSpPr/>
        <p:nvPr/>
      </p:nvGrpSpPr>
      <p:grpSpPr/>
      <p:sp>
        <p:nvSpPr>
          <p:cNvPr id="2" name="Title 1"/>
          <p:cNvSpPr>
            <a:spLocks noGrp="1"/>
          </p:cNvSpPr>
          <p:nvPr>
            <p:ph type="title"/>
          </p:nvPr>
        </p:nvSpPr>
        <p:spPr/>
        <p:txBody>
          <a:bodyPr/>
          <a:lstStyle/>
          <a:p>
            <a:pPr>
              <a:defRPr sz="3600">
                <a:solidFill>
                  <a:srgbClr val="6496FF"/>
                </a:solidFill>
              </a:defRPr>
            </a:pPr>
            <a:r>
              <a:t>12 - THE HYPERCUBE (N-Dimensional Space)</a:t>
            </a:r>
          </a:p>
        </p:txBody>
      </p:sp>
      <p:sp>
        <p:nvSpPr>
          <p:cNvPr id="3" name="TextBox 2"/>
          <p:cNvSpPr txBox="1"/>
          <p:nvPr/>
        </p:nvSpPr>
        <p:spPr>
          <a:xfrm>
            <a:off x="457200" y="1371600"/>
            <a:ext cx="5943600" cy="5029200"/>
          </a:xfrm>
          <a:prstGeom prst="rect">
            <a:avLst/>
          </a:prstGeom>
          <a:solidFill>
            <a:srgbClr val="1E1E1E"/>
          </a:solidFill>
        </p:spPr>
        <p:txBody>
          <a:bodyPr wrap="square">
            <a:spAutoFit/>
          </a:bodyPr>
          <a:lstStyle/>
          <a:p>
            <a:pPr algn="l">
              <a:defRPr sz="1300">
                <a:solidFill>
                  <a:srgbClr val="DCDCDC"/>
                </a:solidFill>
                <a:latin typeface="Consolas"/>
              </a:defRPr>
            </a:pPr>
            <a:r>
              <a:t>// Horner's Method: Resolve N-dims into 1 offset</a:t>
            </a:r>
          </a:p>
          <a:p>
            <a:pPr algn="l">
              <a:defRPr sz="1300">
                <a:solidFill>
                  <a:srgbClr val="DCDCDC"/>
                </a:solidFill>
                <a:latin typeface="Consolas"/>
              </a:defRPr>
            </a:pPr>
            <a:r>
              <a:t>// offset = (State * Zone_count) + Zone</a:t>
            </a:r>
          </a:p>
          <a:p>
            <a:pPr algn="l">
              <a:defRPr sz="1300">
                <a:solidFill>
                  <a:srgbClr val="DCDCDC"/>
                </a:solidFill>
                <a:latin typeface="Consolas"/>
              </a:defRPr>
            </a:pPr>
            <a:r>
              <a:t>template&lt;class... TAxes&gt;</a:t>
            </a:r>
          </a:p>
          <a:p>
            <a:pPr algn="l">
              <a:defRPr sz="1300">
                <a:solidFill>
                  <a:srgbClr val="DCDCDC"/>
                </a:solidFill>
                <a:latin typeface="Consolas"/>
              </a:defRPr>
            </a:pPr>
            <a:r>
              <a:t>struct Space {</a:t>
            </a:r>
          </a:p>
          <a:p>
            <a:pPr algn="l">
              <a:defRPr sz="1300">
                <a:solidFill>
                  <a:srgbClr val="DCDCDC"/>
                </a:solidFill>
                <a:latin typeface="Consolas"/>
              </a:defRPr>
            </a:pPr>
            <a:r>
              <a:t>    static constexpr size_t Volume = (EnumTraits&lt;TAxes&gt;::Count * ...);</a:t>
            </a:r>
          </a:p>
          <a:p>
            <a:pPr algn="l">
              <a:defRPr sz="1300">
                <a:solidFill>
                  <a:srgbClr val="DCDCDC"/>
                </a:solidFill>
                <a:latin typeface="Consolas"/>
              </a:defRPr>
            </a:pPr>
            <a:r>
              <a:t>    static size_t ComputeOffset(Args... args) { ... }</a:t>
            </a:r>
          </a:p>
          <a:p>
            <a:pPr algn="l">
              <a:defRPr sz="1300">
                <a:solidFill>
                  <a:srgbClr val="DCDCDC"/>
                </a:solidFill>
                <a:latin typeface="Consolas"/>
              </a:defRPr>
            </a:pPr>
            <a:r>
              <a:t>};</a:t>
            </a:r>
          </a:p>
        </p:txBody>
      </p:sp>
      <p:pic>
        <p:nvPicPr>
          <p:cNvPr id="4" name="Picture 3" descr="image.jpg"/>
          <p:cNvPicPr>
            <a:picLocks noChangeAspect="1"/>
          </p:cNvPicPr>
          <p:nvPr/>
        </p:nvPicPr>
        <p:blipFill>
          <a:blip r:embed="rId2"/>
          <a:stretch>
            <a:fillRect/>
          </a:stretch>
        </p:blipFill>
        <p:spPr>
          <a:xfrm>
            <a:off x="6583680" y="1645920"/>
            <a:ext cx="5029200" cy="43032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0F0F"/>
        </a:solidFill>
        <a:effectLst/>
      </p:bgPr>
    </p:bg>
    <p:spTree>
      <p:nvGrpSpPr>
        <p:cNvPr id="1" name=""/>
        <p:cNvGrpSpPr/>
        <p:nvPr/>
      </p:nvGrpSpPr>
      <p:grpSpPr/>
      <p:sp>
        <p:nvSpPr>
          <p:cNvPr id="2" name="Title 1"/>
          <p:cNvSpPr>
            <a:spLocks noGrp="1"/>
          </p:cNvSpPr>
          <p:nvPr>
            <p:ph type="title"/>
          </p:nvPr>
        </p:nvSpPr>
        <p:spPr/>
        <p:txBody>
          <a:bodyPr/>
          <a:lstStyle/>
          <a:p>
            <a:pPr>
              <a:defRPr sz="3600">
                <a:solidFill>
                  <a:srgbClr val="6496FF"/>
                </a:solidFill>
              </a:defRPr>
            </a:pPr>
            <a:r>
              <a:t>13 - THE CRG CURE (Immutable Topology)</a:t>
            </a:r>
          </a:p>
        </p:txBody>
      </p:sp>
      <p:sp>
        <p:nvSpPr>
          <p:cNvPr id="3" name="TextBox 2"/>
          <p:cNvSpPr txBox="1"/>
          <p:nvPr/>
        </p:nvSpPr>
        <p:spPr>
          <a:xfrm>
            <a:off x="457200" y="1371600"/>
            <a:ext cx="5943600" cy="5029200"/>
          </a:xfrm>
          <a:prstGeom prst="rect">
            <a:avLst/>
          </a:prstGeom>
          <a:solidFill>
            <a:srgbClr val="1E1E1E"/>
          </a:solidFill>
        </p:spPr>
        <p:txBody>
          <a:bodyPr wrap="square">
            <a:spAutoFit/>
          </a:bodyPr>
          <a:lstStyle/>
          <a:p>
            <a:pPr algn="l">
              <a:defRPr sz="1300">
                <a:solidFill>
                  <a:srgbClr val="DCDCDC"/>
                </a:solidFill>
                <a:latin typeface="Consolas"/>
              </a:defRPr>
            </a:pPr>
            <a:r>
              <a:t>// MUTABLE: Behavior change = structural rewire</a:t>
            </a:r>
          </a:p>
          <a:p>
            <a:pPr algn="l">
              <a:defRPr sz="1300">
                <a:solidFill>
                  <a:srgbClr val="DCDCDC"/>
                </a:solidFill>
                <a:latin typeface="Consolas"/>
              </a:defRPr>
            </a:pPr>
            <a:r>
              <a:t>behaviors.remove(entity, patrol); // prefetcher loses stream</a:t>
            </a:r>
          </a:p>
          <a:p>
            <a:pPr algn="l">
              <a:defRPr sz="1300">
                <a:solidFill>
                  <a:srgbClr val="DCDCDC"/>
                </a:solidFill>
                <a:latin typeface="Consolas"/>
              </a:defRPr>
            </a:pPr>
          </a:p>
          <a:p>
            <a:pPr algn="l">
              <a:defRPr sz="1300">
                <a:solidFill>
                  <a:srgbClr val="DCDCDC"/>
                </a:solidFill>
                <a:latin typeface="Consolas"/>
              </a:defRPr>
            </a:pPr>
            <a:r>
              <a:t>// CRG: Behavior change = coordinate update</a:t>
            </a:r>
          </a:p>
          <a:p>
            <a:pPr algn="l">
              <a:defRPr sz="1300">
                <a:solidFill>
                  <a:srgbClr val="DCDCDC"/>
                </a:solidFill>
                <a:latin typeface="Consolas"/>
              </a:defRPr>
            </a:pPr>
            <a:r>
              <a:t>world_state = State::Combat; // matrix: unchanged.</a:t>
            </a:r>
          </a:p>
        </p:txBody>
      </p:sp>
      <p:pic>
        <p:nvPicPr>
          <p:cNvPr id="4" name="Picture 3" descr="image.jpg"/>
          <p:cNvPicPr>
            <a:picLocks noChangeAspect="1"/>
          </p:cNvPicPr>
          <p:nvPr/>
        </p:nvPicPr>
        <p:blipFill>
          <a:blip r:embed="rId2"/>
          <a:stretch>
            <a:fillRect/>
          </a:stretch>
        </p:blipFill>
        <p:spPr>
          <a:xfrm>
            <a:off x="6583680" y="1645920"/>
            <a:ext cx="5029200" cy="12879659"/>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F0F0F"/>
        </a:solidFill>
        <a:effectLst/>
      </p:bgPr>
    </p:bg>
    <p:spTree>
      <p:nvGrpSpPr>
        <p:cNvPr id="1" name=""/>
        <p:cNvGrpSpPr/>
        <p:nvPr/>
      </p:nvGrpSpPr>
      <p:grpSpPr/>
      <p:sp>
        <p:nvSpPr>
          <p:cNvPr id="2" name="Title 1"/>
          <p:cNvSpPr>
            <a:spLocks noGrp="1"/>
          </p:cNvSpPr>
          <p:nvPr>
            <p:ph type="title"/>
          </p:nvPr>
        </p:nvSpPr>
        <p:spPr/>
        <p:txBody>
          <a:bodyPr/>
          <a:lstStyle/>
          <a:p>
            <a:pPr>
              <a:defRPr sz="3600">
                <a:solidFill>
                  <a:srgbClr val="6496FF"/>
                </a:solidFill>
              </a:defRPr>
            </a:pPr>
            <a:r>
              <a:t>14 - ECS SYMBIOSIS (The Brain &amp; The Muscle)</a:t>
            </a:r>
          </a:p>
        </p:txBody>
      </p:sp>
      <p:sp>
        <p:nvSpPr>
          <p:cNvPr id="3" name="TextBox 2"/>
          <p:cNvSpPr txBox="1"/>
          <p:nvPr/>
        </p:nvSpPr>
        <p:spPr>
          <a:xfrm>
            <a:off x="457200" y="1371600"/>
            <a:ext cx="5943600" cy="5029200"/>
          </a:xfrm>
          <a:prstGeom prst="rect">
            <a:avLst/>
          </a:prstGeom>
          <a:solidFill>
            <a:srgbClr val="1E1E1E"/>
          </a:solidFill>
        </p:spPr>
        <p:txBody>
          <a:bodyPr wrap="square">
            <a:spAutoFit/>
          </a:bodyPr>
          <a:lstStyle/>
          <a:p>
            <a:pPr algn="l">
              <a:defRPr sz="1300">
                <a:solidFill>
                  <a:srgbClr val="DCDCDC"/>
                </a:solidFill>
                <a:latin typeface="Consolas"/>
              </a:defRPr>
            </a:pPr>
            <a:r>
              <a:t>// THE BRAIN (5 Hz): Decision</a:t>
            </a:r>
          </a:p>
          <a:p>
            <a:pPr algn="l">
              <a:defRPr sz="1300">
                <a:solidFill>
                  <a:srgbClr val="DCDCDC"/>
                </a:solidFill>
                <a:latin typeface="Consolas"/>
              </a:defRPr>
            </a:pPr>
            <a:r>
              <a:t>cap = Router::Find&lt;Energy&gt;(handle, state, zone);</a:t>
            </a:r>
          </a:p>
          <a:p>
            <a:pPr algn="l">
              <a:defRPr sz="1300">
                <a:solidFill>
                  <a:srgbClr val="DCDCDC"/>
                </a:solidFill>
                <a:latin typeface="Consolas"/>
              </a:defRPr>
            </a:pPr>
          </a:p>
          <a:p>
            <a:pPr algn="l">
              <a:defRPr sz="1300">
                <a:solidFill>
                  <a:srgbClr val="DCDCDC"/>
                </a:solidFill>
                <a:latin typeface="Consolas"/>
              </a:defRPr>
            </a:pPr>
            <a:r>
              <a:t>// THE MUSCLE (60 Hz): Execution</a:t>
            </a:r>
          </a:p>
          <a:p>
            <a:pPr algn="l">
              <a:defRPr sz="1300">
                <a:solidFill>
                  <a:srgbClr val="DCDCDC"/>
                </a:solidFill>
                <a:latin typeface="Consolas"/>
              </a:defRPr>
            </a:pPr>
            <a:r>
              <a:t>for (auto&amp; [battery, cap] : ecs.View&lt;ActiveCapability&gt;()) {</a:t>
            </a:r>
          </a:p>
          <a:p>
            <a:pPr algn="l">
              <a:defRPr sz="1300">
                <a:solidFill>
                  <a:srgbClr val="DCDCDC"/>
                </a:solidFill>
                <a:latin typeface="Consolas"/>
              </a:defRPr>
            </a:pPr>
            <a:r>
              <a:t>    cap(params); // Direct static call</a:t>
            </a:r>
          </a:p>
          <a:p>
            <a:pPr algn="l">
              <a:defRPr sz="1300">
                <a:solidFill>
                  <a:srgbClr val="DCDCDC"/>
                </a:solidFill>
                <a:latin typeface="Consolas"/>
              </a:defRPr>
            </a:pPr>
            <a:r>
              <a:t>}</a:t>
            </a:r>
          </a:p>
        </p:txBody>
      </p:sp>
      <p:pic>
        <p:nvPicPr>
          <p:cNvPr id="4" name="Picture 3" descr="image.jpg"/>
          <p:cNvPicPr>
            <a:picLocks noChangeAspect="1"/>
          </p:cNvPicPr>
          <p:nvPr/>
        </p:nvPicPr>
        <p:blipFill>
          <a:blip r:embed="rId2"/>
          <a:stretch>
            <a:fillRect/>
          </a:stretch>
        </p:blipFill>
        <p:spPr>
          <a:xfrm>
            <a:off x="6583680" y="1645920"/>
            <a:ext cx="5029200" cy="2076764"/>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F0F0F"/>
        </a:solidFill>
        <a:effectLst/>
      </p:bgPr>
    </p:bg>
    <p:spTree>
      <p:nvGrpSpPr>
        <p:cNvPr id="1" name=""/>
        <p:cNvGrpSpPr/>
        <p:nvPr/>
      </p:nvGrpSpPr>
      <p:grpSpPr/>
      <p:sp>
        <p:nvSpPr>
          <p:cNvPr id="2" name="Title 1"/>
          <p:cNvSpPr>
            <a:spLocks noGrp="1"/>
          </p:cNvSpPr>
          <p:nvPr>
            <p:ph type="title"/>
          </p:nvPr>
        </p:nvSpPr>
        <p:spPr/>
        <p:txBody>
          <a:bodyPr/>
          <a:lstStyle/>
          <a:p>
            <a:pPr>
              <a:defRPr sz="3600">
                <a:solidFill>
                  <a:srgbClr val="6496FF"/>
                </a:solidFill>
              </a:defRPr>
            </a:pPr>
            <a:r>
              <a:t>15 - THREE LEVELS (The Performance Ladder)</a:t>
            </a:r>
          </a:p>
        </p:txBody>
      </p:sp>
      <p:sp>
        <p:nvSpPr>
          <p:cNvPr id="3" name="TextBox 2"/>
          <p:cNvSpPr txBox="1"/>
          <p:nvPr/>
        </p:nvSpPr>
        <p:spPr>
          <a:xfrm>
            <a:off x="457200" y="1371600"/>
            <a:ext cx="5943600" cy="5029200"/>
          </a:xfrm>
          <a:prstGeom prst="rect">
            <a:avLst/>
          </a:prstGeom>
          <a:solidFill>
            <a:srgbClr val="1E1E1E"/>
          </a:solidFill>
        </p:spPr>
        <p:txBody>
          <a:bodyPr wrap="square">
            <a:spAutoFit/>
          </a:bodyPr>
          <a:lstStyle/>
          <a:p>
            <a:pPr algn="l">
              <a:defRPr sz="1300">
                <a:solidFill>
                  <a:srgbClr val="DCDCDC"/>
                </a:solidFill>
                <a:latin typeface="Consolas"/>
              </a:defRPr>
            </a:pPr>
            <a:r>
              <a:t>// Level 1: Classic OOP vtable       -&gt; ~20.0 ns</a:t>
            </a:r>
          </a:p>
          <a:p>
            <a:pPr algn="l">
              <a:defRPr sz="1300">
                <a:solidFill>
                  <a:srgbClr val="DCDCDC"/>
                </a:solidFill>
                <a:latin typeface="Consolas"/>
              </a:defRPr>
            </a:pPr>
            <a:r>
              <a:t>entity.GetBehavior()-&gt;Update();</a:t>
            </a:r>
          </a:p>
          <a:p>
            <a:pPr algn="l">
              <a:defRPr sz="1300">
                <a:solidFill>
                  <a:srgbClr val="DCDCDC"/>
                </a:solidFill>
                <a:latin typeface="Consolas"/>
              </a:defRPr>
            </a:pPr>
          </a:p>
          <a:p>
            <a:pPr algn="l">
              <a:defRPr sz="1300">
                <a:solidFill>
                  <a:srgbClr val="DCDCDC"/>
                </a:solidFill>
                <a:latin typeface="Consolas"/>
              </a:defRPr>
            </a:pPr>
            <a:r>
              <a:t>// Level 2: CRG Shell (Cold Path)    -&gt;  ~7.0 ns</a:t>
            </a:r>
          </a:p>
          <a:p>
            <a:pPr algn="l">
              <a:defRPr sz="1300">
                <a:solidFill>
                  <a:srgbClr val="DCDCDC"/>
                </a:solidFill>
                <a:latin typeface="Consolas"/>
              </a:defRPr>
            </a:pPr>
            <a:r>
              <a:t>shell.Invoke&lt;&amp;IMovement::Move&gt;();</a:t>
            </a:r>
          </a:p>
          <a:p>
            <a:pPr algn="l">
              <a:defRPr sz="1300">
                <a:solidFill>
                  <a:srgbClr val="DCDCDC"/>
                </a:solidFill>
                <a:latin typeface="Consolas"/>
              </a:defRPr>
            </a:pPr>
          </a:p>
          <a:p>
            <a:pPr algn="l">
              <a:defRPr sz="1300">
                <a:solidFill>
                  <a:srgbClr val="DCDCDC"/>
                </a:solidFill>
                <a:latin typeface="Consolas"/>
              </a:defRPr>
            </a:pPr>
            <a:r>
              <a:t>// Level 3: ActiveCapability (DOD)   -&gt;  ~1.5 ns</a:t>
            </a:r>
          </a:p>
          <a:p>
            <a:pPr algn="l">
              <a:defRPr sz="1300">
                <a:solidFill>
                  <a:srgbClr val="DCDCDC"/>
                </a:solidFill>
                <a:latin typeface="Consolas"/>
              </a:defRPr>
            </a:pPr>
            <a:r>
              <a:t>cap(params); // Zero virtual. Direct ptr.</a:t>
            </a:r>
          </a:p>
        </p:txBody>
      </p:sp>
      <p:pic>
        <p:nvPicPr>
          <p:cNvPr id="4" name="Picture 3" descr="image.jpg"/>
          <p:cNvPicPr>
            <a:picLocks noChangeAspect="1"/>
          </p:cNvPicPr>
          <p:nvPr/>
        </p:nvPicPr>
        <p:blipFill>
          <a:blip r:embed="rId2"/>
          <a:stretch>
            <a:fillRect/>
          </a:stretch>
        </p:blipFill>
        <p:spPr>
          <a:xfrm>
            <a:off x="6583680" y="1645920"/>
            <a:ext cx="5029200" cy="7097044"/>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F0F0F"/>
        </a:solidFill>
        <a:effectLst/>
      </p:bgPr>
    </p:bg>
    <p:spTree>
      <p:nvGrpSpPr>
        <p:cNvPr id="1" name=""/>
        <p:cNvGrpSpPr/>
        <p:nvPr/>
      </p:nvGrpSpPr>
      <p:grpSpPr/>
      <p:sp>
        <p:nvSpPr>
          <p:cNvPr id="2" name="Title 1"/>
          <p:cNvSpPr>
            <a:spLocks noGrp="1"/>
          </p:cNvSpPr>
          <p:nvPr>
            <p:ph type="title"/>
          </p:nvPr>
        </p:nvSpPr>
        <p:spPr/>
        <p:txBody>
          <a:bodyPr/>
          <a:lstStyle/>
          <a:p>
            <a:pPr>
              <a:defRPr sz="3600">
                <a:solidFill>
                  <a:srgbClr val="6496FF"/>
                </a:solidFill>
              </a:defRPr>
            </a:pPr>
            <a:r>
              <a:t>16 - REACHING THE SILICON LIMIT (Benchmarks)</a:t>
            </a:r>
          </a:p>
        </p:txBody>
      </p:sp>
      <p:sp>
        <p:nvSpPr>
          <p:cNvPr id="3" name="TextBox 2"/>
          <p:cNvSpPr txBox="1"/>
          <p:nvPr/>
        </p:nvSpPr>
        <p:spPr>
          <a:xfrm>
            <a:off x="457200" y="1371600"/>
            <a:ext cx="5943600" cy="5029200"/>
          </a:xfrm>
          <a:prstGeom prst="rect">
            <a:avLst/>
          </a:prstGeom>
          <a:solidFill>
            <a:srgbClr val="1E1E1E"/>
          </a:solidFill>
        </p:spPr>
        <p:txBody>
          <a:bodyPr wrap="square">
            <a:spAutoFit/>
          </a:bodyPr>
          <a:lstStyle/>
          <a:p>
            <a:pPr algn="l">
              <a:defRPr sz="1300">
                <a:solidFill>
                  <a:srgbClr val="DCDCDC"/>
                </a:solidFill>
                <a:latin typeface="Consolas"/>
              </a:defRPr>
            </a:pPr>
            <a:r>
              <a:t>// Throughput at Scale (1M entities)</a:t>
            </a:r>
          </a:p>
          <a:p>
            <a:pPr algn="l">
              <a:defRPr sz="1300">
                <a:solidFill>
                  <a:srgbClr val="DCDCDC"/>
                </a:solidFill>
                <a:latin typeface="Consolas"/>
              </a:defRPr>
            </a:pPr>
            <a:r>
              <a:t>// Classic ECS: 19.26 Gi/s</a:t>
            </a:r>
          </a:p>
          <a:p>
            <a:pPr algn="l">
              <a:defRPr sz="1300">
                <a:solidFill>
                  <a:srgbClr val="DCDCDC"/>
                </a:solidFill>
                <a:latin typeface="Consolas"/>
              </a:defRPr>
            </a:pPr>
            <a:r>
              <a:t>// CRG Projection: 30.83 Gi/s</a:t>
            </a:r>
          </a:p>
        </p:txBody>
      </p:sp>
      <p:pic>
        <p:nvPicPr>
          <p:cNvPr id="4" name="Picture 3" descr="image.jpg"/>
          <p:cNvPicPr>
            <a:picLocks noChangeAspect="1"/>
          </p:cNvPicPr>
          <p:nvPr/>
        </p:nvPicPr>
        <p:blipFill>
          <a:blip r:embed="rId2"/>
          <a:stretch>
            <a:fillRect/>
          </a:stretch>
        </p:blipFill>
        <p:spPr>
          <a:xfrm>
            <a:off x="6583680" y="1645920"/>
            <a:ext cx="5029200" cy="1663652"/>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F0F0F"/>
        </a:solidFill>
        <a:effectLst/>
      </p:bgPr>
    </p:bg>
    <p:spTree>
      <p:nvGrpSpPr>
        <p:cNvPr id="1" name=""/>
        <p:cNvGrpSpPr/>
        <p:nvPr/>
      </p:nvGrpSpPr>
      <p:grpSpPr/>
      <p:sp>
        <p:nvSpPr>
          <p:cNvPr id="2" name="Title 1"/>
          <p:cNvSpPr>
            <a:spLocks noGrp="1"/>
          </p:cNvSpPr>
          <p:nvPr>
            <p:ph type="title"/>
          </p:nvPr>
        </p:nvSpPr>
        <p:spPr/>
        <p:txBody>
          <a:bodyPr/>
          <a:lstStyle/>
          <a:p>
            <a:pPr>
              <a:defRPr sz="3600">
                <a:solidFill>
                  <a:srgbClr val="6496FF"/>
                </a:solidFill>
              </a:defRPr>
            </a:pPr>
            <a:r>
              <a:t>17 - CONCLUSION</a:t>
            </a:r>
          </a:p>
        </p:txBody>
      </p:sp>
      <p:sp>
        <p:nvSpPr>
          <p:cNvPr id="3" name="TextBox 2"/>
          <p:cNvSpPr txBox="1"/>
          <p:nvPr/>
        </p:nvSpPr>
        <p:spPr>
          <a:xfrm>
            <a:off x="457200" y="1371600"/>
            <a:ext cx="5943600" cy="5029200"/>
          </a:xfrm>
          <a:prstGeom prst="rect">
            <a:avLst/>
          </a:prstGeom>
          <a:solidFill>
            <a:srgbClr val="1E1E1E"/>
          </a:solidFill>
        </p:spPr>
        <p:txBody>
          <a:bodyPr wrap="square">
            <a:spAutoFit/>
          </a:bodyPr>
          <a:lstStyle/>
          <a:p>
            <a:pPr algn="l">
              <a:defRPr sz="1300">
                <a:solidFill>
                  <a:srgbClr val="DCDCDC"/>
                </a:solidFill>
                <a:latin typeface="Consolas"/>
              </a:defRPr>
            </a:pPr>
            <a:r>
              <a:t>// 1. Zero Coupling  (Linker)</a:t>
            </a:r>
          </a:p>
          <a:p>
            <a:pPr algn="l">
              <a:defRPr sz="1300">
                <a:solidFill>
                  <a:srgbClr val="DCDCDC"/>
                </a:solidFill>
                <a:latin typeface="Consolas"/>
              </a:defRPr>
            </a:pPr>
            <a:r>
              <a:t>// 2. Zero Search    (Math)</a:t>
            </a:r>
          </a:p>
          <a:p>
            <a:pPr algn="l">
              <a:defRPr sz="1300">
                <a:solidFill>
                  <a:srgbClr val="DCDCDC"/>
                </a:solidFill>
                <a:latin typeface="Consolas"/>
              </a:defRPr>
            </a:pPr>
            <a:r>
              <a:t>// 3. Zero Migration (Hardware)</a:t>
            </a:r>
          </a:p>
          <a:p>
            <a:pPr algn="l">
              <a:defRPr sz="1300">
                <a:solidFill>
                  <a:srgbClr val="DCDCDC"/>
                </a:solidFill>
                <a:latin typeface="Consolas"/>
              </a:defRPr>
            </a:pPr>
          </a:p>
          <a:p>
            <a:pPr algn="l">
              <a:defRPr sz="1300">
                <a:solidFill>
                  <a:srgbClr val="DCDCDC"/>
                </a:solidFill>
                <a:latin typeface="Consolas"/>
              </a:defRPr>
            </a:pPr>
            <a:r>
              <a:t>// CRG is what happens when you </a:t>
            </a:r>
          </a:p>
          <a:p>
            <a:pPr algn="l">
              <a:defRPr sz="1300">
                <a:solidFill>
                  <a:srgbClr val="DCDCDC"/>
                </a:solidFill>
                <a:latin typeface="Consolas"/>
              </a:defRPr>
            </a:pPr>
            <a:r>
              <a:t>// stop fighting C++.</a:t>
            </a:r>
          </a:p>
        </p:txBody>
      </p:sp>
      <p:pic>
        <p:nvPicPr>
          <p:cNvPr id="4" name="Picture 3" descr="image.jpg"/>
          <p:cNvPicPr>
            <a:picLocks noChangeAspect="1"/>
          </p:cNvPicPr>
          <p:nvPr/>
        </p:nvPicPr>
        <p:blipFill>
          <a:blip r:embed="rId2"/>
          <a:stretch>
            <a:fillRect/>
          </a:stretch>
        </p:blipFill>
        <p:spPr>
          <a:xfrm>
            <a:off x="6583680" y="1645920"/>
            <a:ext cx="5029200" cy="8653849"/>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